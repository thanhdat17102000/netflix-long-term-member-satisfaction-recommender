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4c9dd061f4f59" /><Relationship Type="http://schemas.openxmlformats.org/officeDocument/2006/relationships/extended-properties" Target="/docProps/app.xml" Id="R9096a7eb479242d1" /><Relationship Type="http://schemas.openxmlformats.org/officeDocument/2006/relationships/officeDocument" Target="/ppt/presentation.xml" Id="Re17dcef1dcea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9c6c354c34753"/>
  </p:sldMasterIdLst>
  <p:notesMasterIdLst>
    <p:notesMasterId xmlns:r="http://schemas.openxmlformats.org/officeDocument/2006/relationships" r:id="R283ab289dc384704"/>
  </p:notesMasterIdLst>
  <p:sldIdLst>
    <p:sldId xmlns:r="http://schemas.openxmlformats.org/officeDocument/2006/relationships" id="256" r:id="R0e76cc31ae2148b6"/>
    <p:sldId xmlns:r="http://schemas.openxmlformats.org/officeDocument/2006/relationships" id="257" r:id="Rf899dc8908324379"/>
    <p:sldId xmlns:r="http://schemas.openxmlformats.org/officeDocument/2006/relationships" id="258" r:id="R26e3033685ea48c7"/>
    <p:sldId xmlns:r="http://schemas.openxmlformats.org/officeDocument/2006/relationships" id="259" r:id="R189db19e7c374dfc"/>
    <p:sldId xmlns:r="http://schemas.openxmlformats.org/officeDocument/2006/relationships" id="260" r:id="Ra33a7f1ead034896"/>
    <p:sldId xmlns:r="http://schemas.openxmlformats.org/officeDocument/2006/relationships" id="261" r:id="R4457c6c99dd1483e"/>
    <p:sldId xmlns:r="http://schemas.openxmlformats.org/officeDocument/2006/relationships" id="262" r:id="R71b64a0f05464dd6"/>
    <p:sldId xmlns:r="http://schemas.openxmlformats.org/officeDocument/2006/relationships" id="263" r:id="Re1a9a2ffa9394ac6"/>
    <p:sldId xmlns:r="http://schemas.openxmlformats.org/officeDocument/2006/relationships" id="264" r:id="R4157aba18cc6441e"/>
    <p:sldId xmlns:r="http://schemas.openxmlformats.org/officeDocument/2006/relationships" id="265" r:id="Rc89f0765c4d8404d"/>
    <p:sldId xmlns:r="http://schemas.openxmlformats.org/officeDocument/2006/relationships" id="266" r:id="R7cf3d62c8bcb4dd3"/>
    <p:sldId xmlns:r="http://schemas.openxmlformats.org/officeDocument/2006/relationships" id="267" r:id="R1dde0b2e5f004da3"/>
    <p:sldId xmlns:r="http://schemas.openxmlformats.org/officeDocument/2006/relationships" id="268" r:id="R7481241b28f04636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7502e039745b7" /><Relationship Type="http://schemas.openxmlformats.org/officeDocument/2006/relationships/slideMaster" Target="/ppt/slideMasters/slideMaster1.xml" Id="R3529c6c354c34753" /><Relationship Type="http://schemas.openxmlformats.org/officeDocument/2006/relationships/notesMaster" Target="/ppt/notesMasters/notesMaster1.xml" Id="R283ab289dc384704" /><Relationship Type="http://schemas.openxmlformats.org/officeDocument/2006/relationships/presProps" Target="/ppt/presProps.xml" Id="Rf5db0baadca04987" /><Relationship Type="http://schemas.openxmlformats.org/officeDocument/2006/relationships/tableStyles" Target="/ppt/tableStyles.xml" Id="Rd370f3b5f4ed4f4d" /><Relationship Type="http://schemas.openxmlformats.org/officeDocument/2006/relationships/slide" Target="/ppt/slides/slide1.xml" Id="R0e76cc31ae2148b6" /><Relationship Type="http://schemas.openxmlformats.org/officeDocument/2006/relationships/slide" Target="/ppt/slides/slide2.xml" Id="Rf899dc8908324379" /><Relationship Type="http://schemas.openxmlformats.org/officeDocument/2006/relationships/slide" Target="/ppt/slides/slide3.xml" Id="R26e3033685ea48c7" /><Relationship Type="http://schemas.openxmlformats.org/officeDocument/2006/relationships/slide" Target="/ppt/slides/slide4.xml" Id="R189db19e7c374dfc" /><Relationship Type="http://schemas.openxmlformats.org/officeDocument/2006/relationships/slide" Target="/ppt/slides/slide5.xml" Id="Ra33a7f1ead034896" /><Relationship Type="http://schemas.openxmlformats.org/officeDocument/2006/relationships/slide" Target="/ppt/slides/slide6.xml" Id="R4457c6c99dd1483e" /><Relationship Type="http://schemas.openxmlformats.org/officeDocument/2006/relationships/slide" Target="/ppt/slides/slide7.xml" Id="R71b64a0f05464dd6" /><Relationship Type="http://schemas.openxmlformats.org/officeDocument/2006/relationships/slide" Target="/ppt/slides/slide8.xml" Id="Re1a9a2ffa9394ac6" /><Relationship Type="http://schemas.openxmlformats.org/officeDocument/2006/relationships/slide" Target="/ppt/slides/slide9.xml" Id="R4157aba18cc6441e" /><Relationship Type="http://schemas.openxmlformats.org/officeDocument/2006/relationships/slide" Target="/ppt/slides/slide10.xml" Id="Rc89f0765c4d8404d" /><Relationship Type="http://schemas.openxmlformats.org/officeDocument/2006/relationships/slide" Target="/ppt/slides/slide11.xml" Id="R7cf3d62c8bcb4dd3" /><Relationship Type="http://schemas.openxmlformats.org/officeDocument/2006/relationships/slide" Target="/ppt/slides/slide12.xml" Id="R1dde0b2e5f004da3" /><Relationship Type="http://schemas.openxmlformats.org/officeDocument/2006/relationships/slide" Target="/ppt/slides/slide13.xml" Id="R7481241b28f0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a968355774d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f1cf330f304e8a" /><Relationship Type="http://schemas.openxmlformats.org/officeDocument/2006/relationships/notesMaster" Target="/ppt/notesMasters/notesMaster1.xml" Id="Ra3d88be3096942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f656d37824a96" /><Relationship Type="http://schemas.openxmlformats.org/officeDocument/2006/relationships/notesMaster" Target="/ppt/notesMasters/notesMaster1.xml" Id="R93b9ca1c9648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76831ed1c24283" /><Relationship Type="http://schemas.openxmlformats.org/officeDocument/2006/relationships/notesMaster" Target="/ppt/notesMasters/notesMaster1.xml" Id="R1b5d26d7100541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6cc3e96ab142c8" /><Relationship Type="http://schemas.openxmlformats.org/officeDocument/2006/relationships/notesMaster" Target="/ppt/notesMasters/notesMaster1.xml" Id="Re41c749315f843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064cd9020463e" /><Relationship Type="http://schemas.openxmlformats.org/officeDocument/2006/relationships/notesMaster" Target="/ppt/notesMasters/notesMaster1.xml" Id="Ra0d4034f600a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aeef8ca9604142" /><Relationship Type="http://schemas.openxmlformats.org/officeDocument/2006/relationships/notesMaster" Target="/ppt/notesMasters/notesMaster1.xml" Id="R8806d99e215b44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c1279a7e14db1" /><Relationship Type="http://schemas.openxmlformats.org/officeDocument/2006/relationships/notesMaster" Target="/ppt/notesMasters/notesMaster1.xml" Id="R39c8611b8529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10289e7e574578" /><Relationship Type="http://schemas.openxmlformats.org/officeDocument/2006/relationships/notesMaster" Target="/ppt/notesMasters/notesMaster1.xml" Id="R5e3f4a21634d4a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c56f53a5d44658" /><Relationship Type="http://schemas.openxmlformats.org/officeDocument/2006/relationships/notesMaster" Target="/ppt/notesMasters/notesMaster1.xml" Id="Radcb0b812f3746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c4d9bf4a044ac1" /><Relationship Type="http://schemas.openxmlformats.org/officeDocument/2006/relationships/notesMaster" Target="/ppt/notesMasters/notesMaster1.xml" Id="Rbeab215f661040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aca69c69694c10" /><Relationship Type="http://schemas.openxmlformats.org/officeDocument/2006/relationships/notesMaster" Target="/ppt/notesMasters/notesMaster1.xml" Id="Rb03f58d3ec4342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e19caebfc64296" /><Relationship Type="http://schemas.openxmlformats.org/officeDocument/2006/relationships/notesMaster" Target="/ppt/notesMasters/notesMaster1.xml" Id="R054a6ca806ba45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87def001d44e79" /><Relationship Type="http://schemas.openxmlformats.org/officeDocument/2006/relationships/notesMaster" Target="/ppt/notesMasters/notesMaster1.xml" Id="Rfe36deda7da6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nhóm, giảng viên và học phần. Logo lấy từ báo cáo mẫu do người dùng cung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tên đề tài. Nêu rõ MovieLens mô phỏng bài toán, không phải dữ liệu Netflix.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dàn ý buổi trình bày, đồng thời là sơ đồ luồng hệ thống.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Hệ thống tạo Top 10 phim chưa chấm. Các lượt chấm mới hơn là dữ liệu đánh giá ngoại tuyến.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MovieLens không phải dữ liệu vận hành Netflix. Không suy ra sự hài lòng thật hay tỷ lệ duy trì thuê bao.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Nhắc bốn tầng RAW, BRONZE, SILVER, GOLD. Bản smoke chạy cục bộ; các thành phần HDFS/Spark thuộc cấu hình full.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Hai ngưỡng là proxy trên dữ liệu MovieLens. Chia theo thời gian để không đưa thông tin tương lai vào mô hình.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Ở full, ALS là Spark ALS và nhánh xếp hạng lại là TensorFlow MLP. Bản smoke dùng NumPy ALS và logistic.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các chỉ số smoke là kết quả của Spark ALS hay TensorFlow MLP.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dashboard cục bộ chụp ngày 30/09/2026. Mỗi cột là một mô hình smoke.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người dùng đủ điều kiện trong smoke. Các giá trị không đại diện cho MovieLens 25M hoặc Netflix.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 bài kiểm thử đạt; bản smoke có 24 người dùng. Bản full chưa có kết quả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Tóm tắt trong phạm vi đã kiểm chứng và mời câu hỏi.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a7c5e61774b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c86b66fb234b10" /><Relationship Type="http://schemas.openxmlformats.org/officeDocument/2006/relationships/slideLayout" Target="/ppt/slideLayouts/slideLayout1.xml" Id="R75c7351d5d61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7351d5d61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e59b35fac46a3" /><Relationship Type="http://schemas.openxmlformats.org/officeDocument/2006/relationships/image" Target="/ppt/media/image.jpeg" Id="R5d69e30ed23d4a16" /><Relationship Type="http://schemas.openxmlformats.org/officeDocument/2006/relationships/notesSlide" Target="/ppt/notesSlides/notesSlide1.xml" Id="R9bff8fa7855546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fdedf4e8143e8" /><Relationship Type="http://schemas.openxmlformats.org/officeDocument/2006/relationships/image" Target="/ppt/media/image2.jpeg" Id="R1731bdff38d842bf" /><Relationship Type="http://schemas.openxmlformats.org/officeDocument/2006/relationships/notesSlide" Target="/ppt/notesSlides/notesSlide2.xml" Id="R9a830c2ee1c041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e403c28654669" /><Relationship Type="http://schemas.openxmlformats.org/officeDocument/2006/relationships/notesSlide" Target="/ppt/notesSlides/notesSlide3.xml" Id="R9c405713c6bd45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b65dd0a76484f" /><Relationship Type="http://schemas.openxmlformats.org/officeDocument/2006/relationships/notesSlide" Target="/ppt/notesSlides/notesSlide4.xml" Id="Re9f42608582844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f6a8768846e0" /><Relationship Type="http://schemas.openxmlformats.org/officeDocument/2006/relationships/notesSlide" Target="/ppt/notesSlides/notesSlide5.xml" Id="R56747416931542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0fd5fb90246d0" /><Relationship Type="http://schemas.openxmlformats.org/officeDocument/2006/relationships/notesSlide" Target="/ppt/notesSlides/notesSlide6.xml" Id="R5d9478dfa4054a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1045fc4c4784" /><Relationship Type="http://schemas.openxmlformats.org/officeDocument/2006/relationships/notesSlide" Target="/ppt/notesSlides/notesSlide7.xml" Id="Rfe4283ec9b4540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e5e55977f41e3" /><Relationship Type="http://schemas.openxmlformats.org/officeDocument/2006/relationships/notesSlide" Target="/ppt/notesSlides/notesSlide8.xml" Id="R31729781655f47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6a04153744a12" /><Relationship Type="http://schemas.openxmlformats.org/officeDocument/2006/relationships/notesSlide" Target="/ppt/notesSlides/notesSlide9.xml" Id="R3e2bf965ae0745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4d993444d4701" /><Relationship Type="http://schemas.openxmlformats.org/officeDocument/2006/relationships/image" Target="/ppt/media/image.png" Id="Rbe991c4dec4d4c84" /><Relationship Type="http://schemas.openxmlformats.org/officeDocument/2006/relationships/notesSlide" Target="/ppt/notesSlides/notesSlide10.xml" Id="Rb62bdeafeb7c40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f12ae2324678" /><Relationship Type="http://schemas.openxmlformats.org/officeDocument/2006/relationships/chart" Target="/ppt/slides/charts/chart1.xml" Id="R2c4adacfe76f405f" /><Relationship Type="http://schemas.openxmlformats.org/officeDocument/2006/relationships/notesSlide" Target="/ppt/notesSlides/notesSlide11.xml" Id="R71a8937ddb5442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a1a925e1e4f60" /><Relationship Type="http://schemas.openxmlformats.org/officeDocument/2006/relationships/notesSlide" Target="/ppt/notesSlides/notesSlide12.xml" Id="Rd4e054f80fe545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4b08504fe4288" /><Relationship Type="http://schemas.openxmlformats.org/officeDocument/2006/relationships/image" Target="/ppt/media/image3.jpeg" Id="Ra450db418fea403a" /><Relationship Type="http://schemas.openxmlformats.org/officeDocument/2006/relationships/notesSlide" Target="/ppt/notesSlides/notesSlide13.xml" Id="Ra074e21d8ab348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Precision@10</c:v>
          </c:tx>
          <c:spPr>
            <a:solidFill xmlns:a="http://schemas.openxmlformats.org/drawingml/2006/main">
              <a:srgbClr val="195F9A"/>
            </a:solidFill>
          </c:spPr>
          <c:cat>
            <c:strRef>
              <c:f>'Chart Data'!$A$2:$A$4</c:f>
              <c:strCache>
                <c:ptCount val="3"/>
                <c:pt idx="0">
                  <c:v>Phim phổ biến</c:v>
                </c:pt>
                <c:pt idx="1">
                  <c:v>ALS cục bộ</c:v>
                </c:pt>
                <c:pt idx="2">
                  <c:v>ALS + logistic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9.17</c:v>
                </c:pt>
                <c:pt idx="2">
                  <c:v>5.83</c:v>
                </c:pt>
              </c:numCache>
            </c:numRef>
          </c:val>
        </c:ser>
        <c:ser>
          <c:idx val="1"/>
          <c:order val="1"/>
          <c:tx>
            <c:v>NDCG@10</c:v>
          </c:tx>
          <c:spPr>
            <a:solidFill xmlns:a="http://schemas.openxmlformats.org/drawingml/2006/main">
              <a:srgbClr val="AC8CC0"/>
            </a:solidFill>
          </c:spPr>
          <c:cat>
            <c:strRef>
              <c:f>'Chart Data'!$C$2:$C$4</c:f>
              <c:strCache>
                <c:ptCount val="3"/>
                <c:pt idx="0">
                  <c:v>Phim phổ biến</c:v>
                </c:pt>
                <c:pt idx="1">
                  <c:v>ALS cục bộ</c:v>
                </c:pt>
                <c:pt idx="2">
                  <c:v>ALS + logistic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18.89</c:v>
                </c:pt>
                <c:pt idx="2">
                  <c:v>14.21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9F9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9F9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A06F5-58A8-4F95-902C-C2C726E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FDB25-AA22-4FF1-BB49-F549790D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0"/>
            <a:ext cx="1905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0E026-E02C-4597-9EE4-42FE27AD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90550"/>
            <a:ext cx="2266950" cy="2181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9e30ed23d4a16"/>
          <a:stretch xmlns:a="http://schemas.openxmlformats.org/drawingml/2006/main"/>
        </p:blipFill>
        <p:spPr>
          <a:xfrm xmlns:a="http://schemas.openxmlformats.org/drawingml/2006/main">
            <a:off x="10048875" y="820175"/>
            <a:ext cx="2076450" cy="171245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25D82-03DB-4733-AAA9-545A6C9C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ĐẠI HỌC CÔNG NGHỆ THÔNG TIN · ĐHQG TP.HCM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2E50D-CC01-473A-9A6B-CFE09E4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876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C7F8B6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C7F8B6"/>
                </a:solidFill>
                <a:latin typeface="Arial"/>
                <a:ea typeface="Arial"/>
                <a:cs typeface="Arial"/>
              </a:rPr>
              <a:t>NHÓM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79C35-8C1E-42A5-986A-B5DA4B87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AC8CC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AC8CC0"/>
                </a:solidFill>
                <a:latin typeface="Arial"/>
                <a:ea typeface="Arial"/>
                <a:cs typeface="Arial"/>
              </a:rPr>
              <a:t>Công nghệ dữ liệu lớn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2DCEC-8FF9-4190-9ACD-5C4E6E4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IE212.F22.LT.CNTT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261DC-FE03-4663-B681-BFBF673E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33900"/>
            <a:ext cx="1155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C8CC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7ECFE-78C3-4DF3-BE43-181A355C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286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Nguyễn Hoàng Phước  ·  25210169</a:t>
            </a:r>
          </a:p>
          <a:p xmlns:a="http://schemas.openxmlformats.org/drawingml/2006/main">
            <a:pPr algn="l">
              <a:defRPr sz="1875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Nguyễn Hoàng Tân  ·  25210188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2BA9F-1585-4ED0-B69B-0A446BDC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1490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Lê Thị Bích Tuyền  ·  25210236</a:t>
            </a:r>
          </a:p>
          <a:p xmlns:a="http://schemas.openxmlformats.org/drawingml/2006/main">
            <a:pPr algn="l">
              <a:defRPr sz="1875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Nguyễn Lê Thành Đạt  ·  25410029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7A37C-2CC1-4B02-A7F8-8C95B19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62725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GVHD: TS. Hà Minh Tân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C9A85-524B-4FA7-B716-A4746DA7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09/2026</a:t>
            </a:r>
          </a:p>
        </p:txBody>
      </p:sp>
    </p:spTree>
    <p:extLst>
      <p:ext uri="{BB962C8B-B14F-4D97-AF65-F5344CB8AC3E}">
        <p14:creationId xmlns:p14="http://schemas.microsoft.com/office/powerpoint/2010/main" val="1239586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C3C2A-ACC2-4071-B926-8B39F5E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1bdff38d842bf"/>
          <a:stretch xmlns:a="http://schemas.openxmlformats.org/drawingml/2006/main"/>
        </p:blipFill>
        <p:spPr>
          <a:xfrm xmlns:a="http://schemas.openxmlformats.org/drawingml/2006/main">
            <a:off x="10906125" y="569375"/>
            <a:ext cx="1714500" cy="1413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8A37C-3EA7-401E-AED9-794AE245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91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8C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C8CC0"/>
                </a:solidFill>
                <a:latin typeface="Arial"/>
                <a:ea typeface="Arial"/>
                <a:cs typeface="Arial"/>
              </a:rPr>
              <a:t>ĐỀ TÀI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5842A-4C91-456A-848B-14C15225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95425"/>
            <a:ext cx="10477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HỆ THỐNG KHUYẾN NGHỊ</a:t>
            </a:r>
          </a:p>
          <a:p xmlns:a="http://schemas.openxmlformats.org/drawingml/2006/main">
            <a:pPr algn="l">
              <a:defRPr sz="427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CHO SỰ HÀI LÒNG CỦA</a:t>
            </a:r>
          </a:p>
          <a:p xmlns:a="http://schemas.openxmlformats.org/drawingml/2006/main">
            <a:pPr algn="l">
              <a:defRPr sz="427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THÀNH VIÊN DÀI HẠN</a:t>
            </a:r>
          </a:p>
          <a:p xmlns:a="http://schemas.openxmlformats.org/drawingml/2006/main">
            <a:pPr algn="l">
              <a:defRPr sz="427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TẠI NETFLIX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5D7DC-3E56-4F8E-B481-148D646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57875"/>
            <a:ext cx="1180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C8C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0D9B3-FFD2-4630-9245-A9922A93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81725"/>
            <a:ext cx="11334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MovieLens 25M là dữ liệu thử nghiệm cho bài toán gợi ý phim.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930C6-ED87-4BF6-9E83-5CF05781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72675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0429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DD0EF-B180-490C-BA01-5160813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DB637-77BE-4B4A-9198-9EF2A14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731DA-8EB7-4DD5-B452-4572876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D7F1E-B60B-441E-849E-8ADA2873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82ADF-B493-4FEC-891B-B0DF9E45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AABF0-E0F1-460C-89CC-9ABA8269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AD4B4-CF7B-4558-AB7F-66ABF632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6334E-09B7-4DBF-BD2F-819EA80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4215E-9513-4EC5-8FED-E8B7AEF7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EEC67-4D3E-4D16-B423-837A8C6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96EC1-EBAF-4EFE-8DFF-842C6D2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HỆ THỐNG HOẠT ĐỘNG RA SAO?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B8322-7F70-4F43-8CB3-EFA15DD8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Năm phần liên tiếp từ dữ liệu đến danh sách gợi ý.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4B82B-C47E-406E-9E32-6333C960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4D459-214F-44B4-8AEE-47301F84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9F9F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4AAEE-9AC7-47A0-B6D7-6F78CC89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57054-F9AC-47F1-8829-16DF6667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93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4309B-AFFD-47F2-998B-AB466DE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7A95A-2CBC-4B6B-A03B-45E1BA8C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EED4A-5810-44E2-B207-43F4AB0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93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4407E-D483-4DBF-92BE-568E876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91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0A70F-84E7-42EB-B921-F4B9873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3DA71-4DD4-4D87-BB5C-004B8B58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93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64734-DE77-4581-BB64-C8EA0D2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91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Ứng viên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3FEB2-785C-4E28-8612-71DA98B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3855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8C672-09C6-40F9-8FFC-3B4A9433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93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0F823-1517-451D-9A99-16F4555B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191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Xếp hạng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DAC201-C557-40A0-B8F7-D240809D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63855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EAED6-C324-4691-B5E6-2610E6D8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829050"/>
            <a:ext cx="93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CDEB2-EE5B-4237-8F9C-FB94654B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191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Hiển thị</a:t>
            </a:r>
          </a:p>
        </p:txBody>
      </p:sp>
    </p:spTree>
    <p:extLst>
      <p:ext uri="{BB962C8B-B14F-4D97-AF65-F5344CB8AC3E}">
        <p14:creationId xmlns:p14="http://schemas.microsoft.com/office/powerpoint/2010/main" val="774048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31247-945E-4F3D-A1BC-5599B4E7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57E76-B0DC-4828-8C22-656132FC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EF54D-C111-4C34-B8B2-87599334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DC5E1-CFCF-49B3-BEBA-DA725071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E53AE-C34D-4F74-B4CA-E356168E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66A5E-F38E-4E29-B77E-5946FAEE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F1C94-8389-43E0-8078-502A6AD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A3832-E383-4B5D-BABA-831E45E5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57F8D-2C1C-4DCF-98E6-37AAB71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DBF04-D8E1-4695-A9A8-8C1108A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C3C24-3DB7-4F62-8901-288F8D9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TỪ LỊCH SỬ CHẤM ĐIỂM ĐẾN TOP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A6923-A248-4A8B-8097-50444904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Mỗi người dùng có một danh sách phim chưa chấm được xếp theo độ phù hợp.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44AFE-F59C-4F17-B76F-D932DC89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7F50C-27EA-48F5-8B56-18C3DD3A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4095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C72A4-A38B-4936-80F5-3C6343DD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4095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C9158-5EFC-4E45-B74A-78CD49D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81703-9728-4D06-9639-230EFFA5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619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Lượt chấm trước đây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userId · movieId · điểm · thời gian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77D58-915A-4696-90DC-372CA8F2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76650"/>
            <a:ext cx="71437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C6DAC-6EAC-400C-A563-F3CC051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314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6F791-C9D1-40F7-908E-19402764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27A6F-4FCB-4082-A0EE-7F8065F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9EFB6-6CA9-47CA-AF04-01E1F96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14725"/>
            <a:ext cx="2667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Chọn ứng viên và xếp hạng phim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F9202-8F64-4A4D-9FEE-3210B54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71437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711D6-1AFD-4106-9596-04A8E02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30670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E2E35-B88B-4B43-A54C-AF37DAB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3067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A77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BAE87-1FFA-482D-B7B7-6E07E50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622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8B403-7634-4692-9220-8D52934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14725"/>
            <a:ext cx="25908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Top 10 phim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trên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A1E8C2-3E3C-41F0-BC59-BA5EB3D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57875"/>
            <a:ext cx="1181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7F8B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7F8B6"/>
                </a:solidFill>
                <a:latin typeface="Arial"/>
                <a:ea typeface="Arial"/>
                <a:cs typeface="Arial"/>
              </a:rPr>
              <a:t>Đánh giá bằng các lượt chấm xảy ra sau thời điểm huấn luyện.</a:t>
            </a:r>
          </a:p>
        </p:txBody>
      </p:sp>
    </p:spTree>
    <p:extLst>
      <p:ext uri="{BB962C8B-B14F-4D97-AF65-F5344CB8AC3E}">
        <p14:creationId xmlns:p14="http://schemas.microsoft.com/office/powerpoint/2010/main" val="1206414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2A518-5974-4761-A65F-F6CD0740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870FD-814F-4FD9-8EA9-1DFDAA01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3EDB7-33AA-43CC-AD99-D3899B4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26490-0EED-46B9-9168-5EF16A8F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F56B0-7211-4A9F-9BB1-C82D7F4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879F9-5D9D-4122-9255-DE213D5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F0D41-FB65-4B40-A340-C27A2F09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25FB7-173A-4CA7-AAD9-53AF910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9E1C7-E2CB-47CC-BCFE-ACAEA7FB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08246-50DD-4457-9658-2C4D5128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25B55-8CFC-4F47-B6B1-9C9C460D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 ĐẦU VÀO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B94C8-CD94-4B07-ABEC-B5A98900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MovieLens 25M cung cấp dữ liệu để thử quy trình.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94B29-9043-4090-B951-CE2E2128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1F733-2CF3-4A0F-A91C-05E4FD66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58293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58983-C62F-40B9-9D7A-8DFA7FBE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582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A241A-8BAB-47E0-B138-82864741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535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ratings.csv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95A86-D7D5-4B30-9D88-25A353D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5353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userId · movieId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rating · timestamp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A6636-6413-4ADC-B4AE-A2CA9A9C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633412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9CAF2-FFBC-48D2-A299-15ED082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6334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E4265-170B-4C56-B3EC-09A0E0F3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585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movies.csv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4B798-106B-4277-9E3B-6C80DF70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19475"/>
            <a:ext cx="5857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movieId · title · genres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1CD91-656F-4217-8A6A-4415076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238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E8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5E624-04C5-41F0-B053-EA48D972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457825"/>
            <a:ext cx="1181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MovieLens không có dữ liệu thuê bao, thời lượng xem hay mức hài lòng thật của Netflix.</a:t>
            </a:r>
          </a:p>
        </p:txBody>
      </p:sp>
    </p:spTree>
    <p:extLst>
      <p:ext uri="{BB962C8B-B14F-4D97-AF65-F5344CB8AC3E}">
        <p14:creationId xmlns:p14="http://schemas.microsoft.com/office/powerpoint/2010/main" val="1018127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0D9E6-C119-49DA-AEBF-06BF4F68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33FD3-0C20-4B5F-AD10-2F4E302A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58090-7335-4BAD-90ED-EE35EA5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D0E81-C0DD-4765-874D-AED5BE3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5AC72-5FF5-4D02-BEA8-0BCA8147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21DBE-A865-495B-BB88-A0E315E0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4B2B6-4E29-467D-9032-BB25B69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F6F7E-B9CA-4B01-B45B-4462129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0B7B5-F724-4647-9693-4DC839C6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C7D57-9E51-421A-A859-9CF5C3B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43792-F03A-420D-B378-8E66034A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BỐN TẦNG XỬ LÝ DỮ LIỆU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BBB0F-E03D-4AFD-87D4-989BA17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Trong cấu hình full, HDFS lưu dữ liệu và Spark xử lý các bảng.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A070B-6899-4B88-AC0C-0465DFB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0C120-0B33-4324-BC80-7D4D92DA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886075" cy="3429000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14288">
            <a:solidFill>
              <a:srgbClr val="195F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B01C5-8C06-4761-B45F-31B9FC6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8860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C5AA9-80BC-4B1F-BE8E-BD0C179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409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70731-046A-4431-A234-415A43A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23622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Giữ nguyên tệp gốc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32744-2955-4EE4-85F9-F9FD28B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10000"/>
            <a:ext cx="3714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2EA5E-D365-4538-A2C3-2DE1B2F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2886075" cy="3429000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14288">
            <a:solidFill>
              <a:srgbClr val="50A77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D649B-A330-4417-B9FA-50E2EA29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28860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A7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997B9-8082-47EA-817F-32D43A86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2409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A774C-F64B-4F60-A507-7D61794E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43275"/>
            <a:ext cx="23622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Kiểm tra kiểu và bản ghi lỗi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940BD-DB6A-4222-BFC4-9F2F9D49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0000"/>
            <a:ext cx="3714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D4BFB-AF69-445F-993B-E58A11F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2886075" cy="3429000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14288">
            <a:solidFill>
              <a:srgbClr val="E7B62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DE5F2-C801-4BC6-955F-10578EFA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28860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2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22802-1F25-408B-B382-53D0F78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2409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D93B7-6D98-49FD-BA38-C6282857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43275"/>
            <a:ext cx="23622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Lọc người dùng và chia theo thời gian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B6C2A-7837-4E2F-998D-BCDD69B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10000"/>
            <a:ext cx="3714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A7206-0A1B-424B-ADD2-91E377E3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2886075" cy="3429000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14288">
            <a:solidFill>
              <a:srgbClr val="AC8CC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5E926-145C-4181-9702-882B00D1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28860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5A0CC-7189-40E0-9B2E-4A794AC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2409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6F372-0725-4D9A-90F0-4F545F2F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43275"/>
            <a:ext cx="23622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Tạo đặc trưng để huấn luyện</a:t>
            </a:r>
          </a:p>
        </p:txBody>
      </p:sp>
    </p:spTree>
    <p:extLst>
      <p:ext uri="{BB962C8B-B14F-4D97-AF65-F5344CB8AC3E}">
        <p14:creationId xmlns:p14="http://schemas.microsoft.com/office/powerpoint/2010/main" val="2102587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36533-1786-40F2-97B7-A80C5A71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57846-BD08-4D38-BCF7-6F98B2F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28FA9-D529-4BEC-81B9-3A68AD01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05661-28E1-4859-ADA3-E470F7A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73E50-800E-4EE4-BFC7-D2455EDD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2AFDD-41DC-4B0D-A636-2B3E3E09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D6B9A-988D-4EF7-83D8-ED18091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D8DF3-8198-43B7-9793-D1441A7A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73FF7-10E5-46CD-9014-2B02AAB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39C6E-298C-4057-9409-EFCB8A0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4C1C9-E262-4708-8F3D-3A03FC45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CHỌN NGƯỜI DÙNG VÀ CHIA THEO THỜI GIAN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3878E-E797-4771-8371-1216765B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Lượt chấm mới hơn chỉ dùng để điều chỉnh hoặc đánh giá.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D772D-9360-43A0-95C3-20DC8CCA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B8484-C6CE-4395-9A4E-9E99DFE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47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C8CC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C8CC0"/>
                </a:solidFill>
                <a:latin typeface="Arial"/>
                <a:ea typeface="Arial"/>
                <a:cs typeface="Arial"/>
              </a:rPr>
              <a:t>Ngưỡng chọn người dùng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77156-ABD8-494C-BC0D-E82E5FC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5286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FULL: ≥20 lượt chấm trong ≥180 ngày</a:t>
            </a:r>
          </a:p>
          <a:p xmlns:a="http://schemas.openxmlformats.org/drawingml/2006/main">
            <a:pPr algn="l">
              <a:defRPr sz="2100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SMOKE: ≥5 lượt chấm trong ≥30 ngày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8828C-E7F5-474B-977F-EFAFFAA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580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C8CC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C8CC0"/>
                </a:solidFill>
                <a:latin typeface="Arial"/>
                <a:ea typeface="Arial"/>
                <a:cs typeface="Arial"/>
              </a:rPr>
              <a:t>Lịch sử chấm điểm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E0ABC-FAD7-40AA-8020-CEEF442B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9925"/>
            <a:ext cx="3057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9CA61-F33E-4BB5-B48F-4060077C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53220-B25E-41F1-9B1E-0D1907CA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9925"/>
            <a:ext cx="15430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D4D76-8F81-4D10-A7EC-3B9D800E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26DF4-CAF3-4F9D-B077-CA7645D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09925"/>
            <a:ext cx="1466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A77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22D7D-99E5-4C7D-9F63-C02754F4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4290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F73FB-8063-4EF7-9351-3255F16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603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F9F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D53FE-8554-4726-A840-F95E902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243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Cũ hơn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98B59-D6FC-4C4C-91B1-3FA3CC6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243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Mới hơn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5A9AA-5B38-4C64-A275-4B4ED66B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2334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72744-C79B-40D3-86A2-1EE17E86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194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Đặc trưng chỉ tính từ TRAIN. Phim từ 4 sao được xem là phản hồi tích cực.</a:t>
            </a:r>
          </a:p>
        </p:txBody>
      </p:sp>
    </p:spTree>
    <p:extLst>
      <p:ext uri="{BB962C8B-B14F-4D97-AF65-F5344CB8AC3E}">
        <p14:creationId xmlns:p14="http://schemas.microsoft.com/office/powerpoint/2010/main" val="1374334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32811-2D32-4707-BE84-1A942F1D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80A96-F2BD-4799-B62A-35200F0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0F77A-AC92-4C3F-8232-369BBC95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1D821-95FC-485F-8979-DA4C003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789C5-9991-4E66-BC86-C3C3988D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33764-4A22-4B75-B178-44156E7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DB852-AB1A-468C-995B-880DFADB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F4233-9D85-4401-9E35-1B75F7DD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17A89-C1B3-4453-98E7-21C27414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225BA-3E7E-46ED-9D24-8EBC4252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3C655-2170-424A-A863-91C3F6C8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BA CÁCH TẠO GỢI 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72327-FD35-49AD-A792-012C7A9F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Phổ biến là mốc so sánh; ALS tạo ứng viên; nhánh kết hợp xếp lại danh sách.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E1E20-87E8-461C-8D5C-3365FEBD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AA3FE-FB92-4214-B730-A4F7F68F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9825"/>
            <a:ext cx="123444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A891D-10FA-44AA-926C-6F7F4343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9825"/>
            <a:ext cx="26860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2E33D-CBB6-4BB4-8866-9393E8DD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PHIM PHỔ BIẾN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AAC75-AF18-48BB-8B57-1467EE22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90825"/>
            <a:ext cx="571500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525B-F31E-4D64-B2B6-7D389EF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781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Xếp theo số lượt chấm và điểm trung bình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70E6F-9457-421D-AFB3-E7121A71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33800"/>
            <a:ext cx="123444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8EE71-457F-476B-8556-F71FE94E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33800"/>
            <a:ext cx="26860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A7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D1747-BFE2-42BB-BAC5-3AF8B13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7F958-E798-4790-BB36-80B99B24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14800"/>
            <a:ext cx="571500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A7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2B866-B0FF-4A04-B08B-209DF998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71925"/>
            <a:ext cx="781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Học mẫu chấm của người dùng và phim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1F3E2-02B7-493E-9E23-7AA18EC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57775"/>
            <a:ext cx="123444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623C1-961C-4847-8172-244FBE7E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57775"/>
            <a:ext cx="26860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CDE4D-5690-4B92-AA57-198E3A42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ALS KẾT HỢP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3C387-DCAC-414F-8A1F-802B34A5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438775"/>
            <a:ext cx="571500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22CAC-22E3-4856-9C28-8CAE52A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95900"/>
            <a:ext cx="781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Xếp lại ứng viên bằng đặc trưng</a:t>
            </a:r>
          </a:p>
        </p:txBody>
      </p:sp>
    </p:spTree>
    <p:extLst>
      <p:ext uri="{BB962C8B-B14F-4D97-AF65-F5344CB8AC3E}">
        <p14:creationId xmlns:p14="http://schemas.microsoft.com/office/powerpoint/2010/main" val="1000938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4FC40-7FB5-43E9-A070-5070C816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B6981-24A5-4D71-9136-98DDE63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AB2A0-4BB7-4324-949D-0F13FB9C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9499E-D72C-4B9B-A590-90135BF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C5257-E033-4800-97C0-7B99B643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3EC54-8D3B-4AC0-85C4-D275C6B1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4CF43-5B13-44F6-A436-1232EAB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0CE76-8423-4861-AE76-56EE0C15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8E049-F0F1-4DA6-9D25-CDCC668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95FC1-A6BD-45BE-B05D-A3AEC2D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0287D-B042-4595-B36E-A9E357C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FULL VÀ SMOKE LÀ HAI CẤU HÌNH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70FAB-1394-490A-B6B3-3894421B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Tên mô hình giống nhau nhưng môi trường chạy và bằng chứng khác nhau.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EE455-2EC1-4D52-9096-A7FF90BF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7E11D-EE97-4AC6-AB66-5DC9008F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47925"/>
            <a:ext cx="58483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EEC7F-CCF6-4B53-B4FE-95BD7C8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47925"/>
            <a:ext cx="5848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322E1-9793-4A96-8918-F66DF981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537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FULL · THIẾT KẾ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2B4CD-A139-40F6-AFE6-56D4D932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53721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MovieLens 25M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HDFS · Spark ALS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TensorFlow MLP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3886C-3B80-4942-927A-C078FAC6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47925"/>
            <a:ext cx="6238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AF01C-47C3-4155-A403-09BEDC55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47925"/>
            <a:ext cx="623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F4723-8D92-4AA9-8E32-93A5A4EA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76525"/>
            <a:ext cx="576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SMOKE · ĐÃ CHẠY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23F95-FB92-438E-B2F5-A263592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576262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Dữ liệu mẫu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Python / NumPy ALS</a:t>
            </a:r>
          </a:p>
          <a:p xmlns:a="http://schemas.openxmlformats.org/drawingml/2006/main">
            <a:pPr algn="l">
              <a:defRPr sz="1875" b="0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33F"/>
                </a:solidFill>
                <a:latin typeface="Arial"/>
                <a:ea typeface="Arial"/>
                <a:cs typeface="Arial"/>
              </a:rPr>
              <a:t>Xếp hạng lại logistic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F87C7-8A98-4B46-8143-EE49BB46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67425"/>
            <a:ext cx="1219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F8B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7F8B6"/>
                </a:solidFill>
                <a:latin typeface="Arial"/>
                <a:ea typeface="Arial"/>
                <a:cs typeface="Arial"/>
              </a:rPr>
              <a:t>Bản nộp chỉ báo cáo metric của smoke.</a:t>
            </a:r>
          </a:p>
        </p:txBody>
      </p:sp>
    </p:spTree>
    <p:extLst>
      <p:ext uri="{BB962C8B-B14F-4D97-AF65-F5344CB8AC3E}">
        <p14:creationId xmlns:p14="http://schemas.microsoft.com/office/powerpoint/2010/main" val="437716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92758-3B8E-4DA3-A764-77A2A52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48B8E-5EB8-470C-80A7-F9054CB7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DA090-5FA9-491C-9A61-684DCDDF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ECFB0-FBA4-4400-8E2C-4E14A2CE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6336-41F7-4B68-ABCE-06EEAE1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B2F16-CBC3-4C4A-A8E1-5D01082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7475C-24F8-4719-AA04-57F0193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6B4CA-E2AC-4141-9BBE-C27D692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3817C-E9C6-4BA4-8029-0E9BBB19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BF4D4-75E4-4905-8BEE-EBF3623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59299-3EEA-4DCC-91DC-3A0D23B3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DASHBOARD: XEM GỢI Ý CHO MỘT NGƯỜI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F8997-868C-49C9-B936-811E4B9A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Ảnh chụp chế độ SMOKE, người dùng 1 và ba cách xếp hạng.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4DCD4-BE21-4F1A-A2F4-5A26D56F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CCB66-FB2E-428A-A63F-18EC9BE6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47900"/>
            <a:ext cx="12144375" cy="484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91c4dec4d4c84"/>
          <a:stretch xmlns:a="http://schemas.openxmlformats.org/drawingml/2006/main"/>
        </p:blipFill>
        <p:spPr>
          <a:xfrm xmlns:a="http://schemas.openxmlformats.org/drawingml/2006/main">
            <a:off x="1453792" y="2343150"/>
            <a:ext cx="10817942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89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406FA-7069-4E38-B555-A2B76C44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79B10-F966-49D7-A429-92B7839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9739A-D027-4731-B795-E4A667E9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AAAD0-13D7-46E1-89FF-0B3FFFE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497B-2187-48D7-A9C3-5AD3370B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39AE7-37B1-4B58-942C-90F8588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6B566-22BE-4A7A-8FB4-B91370BE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82CBB-DF16-4082-9ECD-43796E6B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55572-20EE-41C4-8B1A-FC47B012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EED95-F376-400C-82BE-CE9A1CC8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71FD2-EBB7-4761-BDBA-F9A3AD40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 SMOKE TRÊN 24 NGƯỜI DÙNG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90489-A284-4390-AADC-F187698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Precision@10 và NDCG@10 (%), bản lưu 15:24 ngày 29/09/2026.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87F88-6F03-40C1-8C7F-6B344BE3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1D6C5-2CEA-457D-B482-A0FF4618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22301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076325" y="2514600"/>
          <a:ext xmlns:a="http://schemas.openxmlformats.org/drawingml/2006/main" cx="11515725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4adacfe76f405f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8E740-54FA-4B53-A5C4-214CC3A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5325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Nguồn: artifacts/metrics/submission_smoke_metrics.json</a:t>
            </a:r>
          </a:p>
        </p:txBody>
      </p:sp>
    </p:spTree>
    <p:extLst>
      <p:ext uri="{BB962C8B-B14F-4D97-AF65-F5344CB8AC3E}">
        <p14:creationId xmlns:p14="http://schemas.microsoft.com/office/powerpoint/2010/main" val="3240191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F0FAB-E6C5-4244-A798-B25407D1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F60D9-931C-4E3F-BF2D-B74E2FBC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C9505-F82A-42CF-A7BC-C68A2DD9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F042F-9601-41EF-A4C8-7A8FAD5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E0ECC-58EA-4634-8A43-F56DA389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AEAA0-01D3-4868-8513-EB73D64C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D7BA0-A7A9-4993-8BEB-90DF730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F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DF864-9F9A-4600-8321-EDF2EDDE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02F94-7C26-4F20-8D32-DF988A8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71450"/>
            <a:ext cx="24765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608B7-4F80-4B46-8D00-30F6FF7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76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E8708-F8AB-47E8-8E6C-7F4040FD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228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ĐÃ KIỂM CHỨNG GÌ?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A1B50-96CF-416A-8E6D-BF773770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Chỉ kết luận trong phạm vi đã chạy trên máy.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E3617-567D-4182-B9AE-D4257FC2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2580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D99BF-5C73-429C-87EB-7B4A415F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5381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D902D-4D95-431E-AB8C-F3226C3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4810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25" b="1">
                <a:solidFill>
                  <a:srgbClr val="195F9A"/>
                </a:solidFill>
                <a:latin typeface="Arial"/>
                <a:ea typeface="Arial"/>
                <a:cs typeface="Arial"/>
              </a:defRPr>
            </a:pPr>
            <a:r>
              <a:rPr sz="8025" b="1">
                <a:solidFill>
                  <a:srgbClr val="195F9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59DAD-5474-4ADB-8D3B-F0437ABE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38600"/>
            <a:ext cx="4829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bài kiểm thử đạt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3C698-BC37-4642-B59B-179F5D6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6381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CF806-28C5-4C50-BE8C-98B7717C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58388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25" b="1">
                <a:solidFill>
                  <a:srgbClr val="76518F"/>
                </a:solidFill>
                <a:latin typeface="Arial"/>
                <a:ea typeface="Arial"/>
                <a:cs typeface="Arial"/>
              </a:defRPr>
            </a:pPr>
            <a:r>
              <a:rPr sz="8025" b="1">
                <a:solidFill>
                  <a:srgbClr val="76518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0DD5C-90AE-4821-8A2B-650FC21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3860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người dùng trong smoke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31AF1-D925-4608-BFFA-BD5C6B1B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0225"/>
            <a:ext cx="1228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1D749-D638-4E90-ABEE-B3AF6919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753100"/>
            <a:ext cx="1181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2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33F"/>
                </a:solidFill>
                <a:latin typeface="Arial"/>
                <a:ea typeface="Arial"/>
                <a:cs typeface="Arial"/>
              </a:rPr>
              <a:t>Còn cần chạy MovieLens 25M trên Hadoop, Spark và TensorFlow để có kết quả full.</a:t>
            </a:r>
          </a:p>
        </p:txBody>
      </p:sp>
    </p:spTree>
    <p:extLst>
      <p:ext uri="{BB962C8B-B14F-4D97-AF65-F5344CB8AC3E}">
        <p14:creationId xmlns:p14="http://schemas.microsoft.com/office/powerpoint/2010/main" val="18946358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C1C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18DB4-CB87-4132-BA96-9941057E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CC0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0db418fea403a"/>
          <a:stretch xmlns:a="http://schemas.openxmlformats.org/drawingml/2006/main"/>
        </p:blipFill>
        <p:spPr>
          <a:xfrm xmlns:a="http://schemas.openxmlformats.org/drawingml/2006/main">
            <a:off x="10572750" y="801068"/>
            <a:ext cx="1695450" cy="139824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F22ED-3DCB-4AE0-8199-03C054A4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0001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9F9F9"/>
                </a:solidFill>
                <a:latin typeface="Arial"/>
                <a:ea typeface="Arial"/>
                <a:cs typeface="Arial"/>
              </a:rPr>
              <a:t>XIN CẢM 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8DAFF-933C-4214-861A-24580083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241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AC8CC0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AC8CC0"/>
                </a:solidFill>
                <a:latin typeface="Arial"/>
                <a:ea typeface="Arial"/>
                <a:cs typeface="Arial"/>
              </a:rPr>
              <a:t>NHÓM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BDF3B-5E00-48B4-90BC-6A3EFA63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10025"/>
            <a:ext cx="1195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C8CC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08A03-9624-488E-8BE0-2841839C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1171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9F9F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9F9F9"/>
                </a:solidFill>
                <a:latin typeface="Arial"/>
                <a:ea typeface="Arial"/>
                <a:cs typeface="Arial"/>
              </a:rPr>
              <a:t>Hệ thống đã có luồng xử lý, mô hình thử và dashboard để xem kết quả.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53757-E18B-4F5D-8892-7B5E4D0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GVHD: TS. Hà Minh Tân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B413F-682F-4BAF-BCE5-95B131E4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277100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C9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C9C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189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2026-09-30T03:50:42.0980000Z</dcterms:created>
  <dcterms:modified xsi:type="dcterms:W3CDTF">2026-09-30T03:50:42.0980000Z</dcterms:modified>
</coreProperties>
</file>