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e0c901da694129" /><Relationship Type="http://schemas.openxmlformats.org/officeDocument/2006/relationships/extended-properties" Target="/docProps/app.xml" Id="Ref79f41a2e804829" /><Relationship Type="http://schemas.openxmlformats.org/officeDocument/2006/relationships/officeDocument" Target="/ppt/presentation.xml" Id="R3c3b3804982d40c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5e01fdc86074091"/>
  </p:sldMasterIdLst>
  <p:notesMasterIdLst>
    <p:notesMasterId xmlns:r="http://schemas.openxmlformats.org/officeDocument/2006/relationships" r:id="R69a65a93e45d48bf"/>
  </p:notesMasterIdLst>
  <p:sldIdLst>
    <p:sldId xmlns:r="http://schemas.openxmlformats.org/officeDocument/2006/relationships" id="256" r:id="R3eb5151bef4740c5"/>
    <p:sldId xmlns:r="http://schemas.openxmlformats.org/officeDocument/2006/relationships" id="257" r:id="R34ab581b0adf41fd"/>
    <p:sldId xmlns:r="http://schemas.openxmlformats.org/officeDocument/2006/relationships" id="258" r:id="R7b44c66e42b04ae6"/>
    <p:sldId xmlns:r="http://schemas.openxmlformats.org/officeDocument/2006/relationships" id="259" r:id="R7989cfe4960b40d6"/>
    <p:sldId xmlns:r="http://schemas.openxmlformats.org/officeDocument/2006/relationships" id="260" r:id="Rb636f5335862450d"/>
    <p:sldId xmlns:r="http://schemas.openxmlformats.org/officeDocument/2006/relationships" id="261" r:id="R53cd1fbc2f2b4ea3"/>
    <p:sldId xmlns:r="http://schemas.openxmlformats.org/officeDocument/2006/relationships" id="262" r:id="R43f427b1984943cc"/>
    <p:sldId xmlns:r="http://schemas.openxmlformats.org/officeDocument/2006/relationships" id="263" r:id="R9e6ff2a6b3524e3b"/>
    <p:sldId xmlns:r="http://schemas.openxmlformats.org/officeDocument/2006/relationships" id="264" r:id="R1b9ec0bffedc4d88"/>
    <p:sldId xmlns:r="http://schemas.openxmlformats.org/officeDocument/2006/relationships" id="265" r:id="R4fa1b3e85b604309"/>
    <p:sldId xmlns:r="http://schemas.openxmlformats.org/officeDocument/2006/relationships" id="266" r:id="R74ef8419dae94c8c"/>
    <p:sldId xmlns:r="http://schemas.openxmlformats.org/officeDocument/2006/relationships" id="267" r:id="R63ff474f510d4b12"/>
    <p:sldId xmlns:r="http://schemas.openxmlformats.org/officeDocument/2006/relationships" id="268" r:id="Rd5f59a502e7a4625"/>
  </p:sldIdLst>
  <p:sldSz cx="13716000" cy="77152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2cb0f3c76d4f20" /><Relationship Type="http://schemas.openxmlformats.org/officeDocument/2006/relationships/slideMaster" Target="/ppt/slideMasters/slideMaster1.xml" Id="R75e01fdc86074091" /><Relationship Type="http://schemas.openxmlformats.org/officeDocument/2006/relationships/notesMaster" Target="/ppt/notesMasters/notesMaster1.xml" Id="R69a65a93e45d48bf" /><Relationship Type="http://schemas.openxmlformats.org/officeDocument/2006/relationships/presProps" Target="/ppt/presProps.xml" Id="Rb07f1ac0e1f14870" /><Relationship Type="http://schemas.openxmlformats.org/officeDocument/2006/relationships/tableStyles" Target="/ppt/tableStyles.xml" Id="Rb887c0f5ac5f4551" /><Relationship Type="http://schemas.openxmlformats.org/officeDocument/2006/relationships/slide" Target="/ppt/slides/slide1.xml" Id="R3eb5151bef4740c5" /><Relationship Type="http://schemas.openxmlformats.org/officeDocument/2006/relationships/slide" Target="/ppt/slides/slide2.xml" Id="R34ab581b0adf41fd" /><Relationship Type="http://schemas.openxmlformats.org/officeDocument/2006/relationships/slide" Target="/ppt/slides/slide3.xml" Id="R7b44c66e42b04ae6" /><Relationship Type="http://schemas.openxmlformats.org/officeDocument/2006/relationships/slide" Target="/ppt/slides/slide4.xml" Id="R7989cfe4960b40d6" /><Relationship Type="http://schemas.openxmlformats.org/officeDocument/2006/relationships/slide" Target="/ppt/slides/slide5.xml" Id="Rb636f5335862450d" /><Relationship Type="http://schemas.openxmlformats.org/officeDocument/2006/relationships/slide" Target="/ppt/slides/slide6.xml" Id="R53cd1fbc2f2b4ea3" /><Relationship Type="http://schemas.openxmlformats.org/officeDocument/2006/relationships/slide" Target="/ppt/slides/slide7.xml" Id="R43f427b1984943cc" /><Relationship Type="http://schemas.openxmlformats.org/officeDocument/2006/relationships/slide" Target="/ppt/slides/slide8.xml" Id="R9e6ff2a6b3524e3b" /><Relationship Type="http://schemas.openxmlformats.org/officeDocument/2006/relationships/slide" Target="/ppt/slides/slide9.xml" Id="R1b9ec0bffedc4d88" /><Relationship Type="http://schemas.openxmlformats.org/officeDocument/2006/relationships/slide" Target="/ppt/slides/slide10.xml" Id="R4fa1b3e85b604309" /><Relationship Type="http://schemas.openxmlformats.org/officeDocument/2006/relationships/slide" Target="/ppt/slides/slide11.xml" Id="R74ef8419dae94c8c" /><Relationship Type="http://schemas.openxmlformats.org/officeDocument/2006/relationships/slide" Target="/ppt/slides/slide12.xml" Id="R63ff474f510d4b12" /><Relationship Type="http://schemas.openxmlformats.org/officeDocument/2006/relationships/slide" Target="/ppt/slides/slide13.xml" Id="Rd5f59a502e7a462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286da6fb0d04c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60ec4a85f444885" /><Relationship Type="http://schemas.openxmlformats.org/officeDocument/2006/relationships/notesMaster" Target="/ppt/notesMasters/notesMaster1.xml" Id="R5069d470f51649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984bb7629d14d9d" /><Relationship Type="http://schemas.openxmlformats.org/officeDocument/2006/relationships/notesMaster" Target="/ppt/notesMasters/notesMaster1.xml" Id="R52c2555e877e416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77d3664ec2b4adb" /><Relationship Type="http://schemas.openxmlformats.org/officeDocument/2006/relationships/notesMaster" Target="/ppt/notesMasters/notesMaster1.xml" Id="Rf1c473b69b0a496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07e66931f5f4ecf" /><Relationship Type="http://schemas.openxmlformats.org/officeDocument/2006/relationships/notesMaster" Target="/ppt/notesMasters/notesMaster1.xml" Id="R8a99c0c5f57743e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cd253ae98a84f87" /><Relationship Type="http://schemas.openxmlformats.org/officeDocument/2006/relationships/notesMaster" Target="/ppt/notesMasters/notesMaster1.xml" Id="R219c030754d54b5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52b5d9c5bc74b78" /><Relationship Type="http://schemas.openxmlformats.org/officeDocument/2006/relationships/notesMaster" Target="/ppt/notesMasters/notesMaster1.xml" Id="R4d7fd26c081b465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636ce3e28234684" /><Relationship Type="http://schemas.openxmlformats.org/officeDocument/2006/relationships/notesMaster" Target="/ppt/notesMasters/notesMaster1.xml" Id="R22796cf7eeec481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a9dd72ac5bf4b7f" /><Relationship Type="http://schemas.openxmlformats.org/officeDocument/2006/relationships/notesMaster" Target="/ppt/notesMasters/notesMaster1.xml" Id="Rac8a14eff6624b7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4f4836ac91a4c31" /><Relationship Type="http://schemas.openxmlformats.org/officeDocument/2006/relationships/notesMaster" Target="/ppt/notesMasters/notesMaster1.xml" Id="R2055164885cf403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5c273a726f94a20" /><Relationship Type="http://schemas.openxmlformats.org/officeDocument/2006/relationships/notesMaster" Target="/ppt/notesMasters/notesMaster1.xml" Id="Rdab2aeae573e453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13eef1c17554f5e" /><Relationship Type="http://schemas.openxmlformats.org/officeDocument/2006/relationships/notesMaster" Target="/ppt/notesMasters/notesMaster1.xml" Id="Rb3cc580f160549c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6f815cbb5fa474a" /><Relationship Type="http://schemas.openxmlformats.org/officeDocument/2006/relationships/notesMaster" Target="/ppt/notesMasters/notesMaster1.xml" Id="R04928d1ef7944e9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f6160662da84907" /><Relationship Type="http://schemas.openxmlformats.org/officeDocument/2006/relationships/notesMaster" Target="/ppt/notesMasters/notesMaster1.xml" Id="Rb1d42d28cee947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Giới thiệu đúng tên đề tài, bốn thành viên, giảng viên và học phần.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Nêu ba việc hệ thống làm. MovieLens là dữ liệu thử nghiệm, không phải dữ liệu Netflix.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Đây là dàn ý buổi trình bày, đồng thời là sơ đồ luồng hệ thống.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Hệ thống tạo Top 10 phim chưa chấm. Các lượt chấm mới hơn là dữ liệu đánh giá ngoại tuyến.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MovieLens không phải dữ liệu vận hành Netflix. Không suy ra sự hài lòng thật hay tỷ lệ duy trì thuê bao.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Nhắc bốn tầng RAW, BRONZE, SILVER, GOLD. Bản smoke chạy cục bộ; các thành phần HDFS/Spark thuộc cấu hình full.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Hai ngưỡng là proxy trên dữ liệu MovieLens. Chia theo thời gian để không đưa thông tin tương lai vào mô hình.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Ở full, ALS là Spark ALS và nhánh xếp hạng lại là TensorFlow MLP. Bản smoke dùng NumPy ALS và logistic.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Không gọi các chỉ số smoke là kết quả của Spark ALS hay TensorFlow MLP.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Ảnh dashboard cục bộ chụp ngày 30/09/2026. Mỗi cột là một mô hình smoke.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24 người dùng đủ điều kiện trong smoke. Các giá trị không đại diện cho MovieLens 25M hoặc Netflix.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21 bài kiểm thử đạt; bản smoke có 24 người dùng. Bản full chưa có kết quả kiểm chứng.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Tóm tắt trong phạm vi đã kiểm chứng và mời câu hỏi.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08a97a92a7482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e9576380d764325" /><Relationship Type="http://schemas.openxmlformats.org/officeDocument/2006/relationships/slideLayout" Target="/ppt/slideLayouts/slideLayout1.xml" Id="R418d5850a9a94d4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18d5850a9a94d4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818344e05a4d8f" /><Relationship Type="http://schemas.openxmlformats.org/officeDocument/2006/relationships/image" Target="/ppt/media/image.jpeg" Id="R674b12d7e7cb4e72" /><Relationship Type="http://schemas.openxmlformats.org/officeDocument/2006/relationships/notesSlide" Target="/ppt/notesSlides/notesSlide1.xml" Id="R5f746a179a35433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276145752c4051" /><Relationship Type="http://schemas.openxmlformats.org/officeDocument/2006/relationships/notesSlide" Target="/ppt/notesSlides/notesSlide2.xml" Id="Rb06cd750b90f41f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18faa14c674f49" /><Relationship Type="http://schemas.openxmlformats.org/officeDocument/2006/relationships/notesSlide" Target="/ppt/notesSlides/notesSlide3.xml" Id="R03fda62befa048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73a04a94084808" /><Relationship Type="http://schemas.openxmlformats.org/officeDocument/2006/relationships/notesSlide" Target="/ppt/notesSlides/notesSlide4.xml" Id="Rb4a572810f224eb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c4a489c5aa46c7" /><Relationship Type="http://schemas.openxmlformats.org/officeDocument/2006/relationships/notesSlide" Target="/ppt/notesSlides/notesSlide5.xml" Id="Ra51047763bc4490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2b4b6a54b9469e" /><Relationship Type="http://schemas.openxmlformats.org/officeDocument/2006/relationships/notesSlide" Target="/ppt/notesSlides/notesSlide6.xml" Id="R92deaab609b0428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4747ae04bf409f" /><Relationship Type="http://schemas.openxmlformats.org/officeDocument/2006/relationships/notesSlide" Target="/ppt/notesSlides/notesSlide7.xml" Id="Re3a93dd2e4344ee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2b1dbef5c94a5c" /><Relationship Type="http://schemas.openxmlformats.org/officeDocument/2006/relationships/notesSlide" Target="/ppt/notesSlides/notesSlide8.xml" Id="R23221fb3c7f04e2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71f4ed48f7409f" /><Relationship Type="http://schemas.openxmlformats.org/officeDocument/2006/relationships/notesSlide" Target="/ppt/notesSlides/notesSlide9.xml" Id="R3f6f652fc8b7472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6ee8d967e94278" /><Relationship Type="http://schemas.openxmlformats.org/officeDocument/2006/relationships/image" Target="/ppt/media/image.png" Id="Rd7fe13044ae44d6e" /><Relationship Type="http://schemas.openxmlformats.org/officeDocument/2006/relationships/notesSlide" Target="/ppt/notesSlides/notesSlide10.xml" Id="Rb83e2b109e2a4c5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b9d19f81fb49c7" /><Relationship Type="http://schemas.openxmlformats.org/officeDocument/2006/relationships/chart" Target="/ppt/slides/charts/chart1.xml" Id="Re6b1a93429354f5e" /><Relationship Type="http://schemas.openxmlformats.org/officeDocument/2006/relationships/notesSlide" Target="/ppt/notesSlides/notesSlide11.xml" Id="R91c64f6c11f24de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8dd6fe6fa54c89" /><Relationship Type="http://schemas.openxmlformats.org/officeDocument/2006/relationships/notesSlide" Target="/ppt/notesSlides/notesSlide12.xml" Id="R5a1a118aad8446f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6a9fb1081248d8" /><Relationship Type="http://schemas.openxmlformats.org/officeDocument/2006/relationships/image" Target="/ppt/media/image2.jpeg" Id="R0932ecabff00472c" /><Relationship Type="http://schemas.openxmlformats.org/officeDocument/2006/relationships/notesSlide" Target="/ppt/notesSlides/notesSlide13.xml" Id="R6b3fc124dce24e0f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Precision@10</c:v>
          </c:tx>
          <c:spPr>
            <a:solidFill xmlns:a="http://schemas.openxmlformats.org/drawingml/2006/main">
              <a:srgbClr val="195F9A"/>
            </a:solidFill>
          </c:spPr>
          <c:cat>
            <c:strRef>
              <c:f>'Chart Data'!$A$2:$A$4</c:f>
              <c:strCache>
                <c:ptCount val="3"/>
                <c:pt idx="0">
                  <c:v>Phim phổ biến</c:v>
                </c:pt>
                <c:pt idx="1">
                  <c:v>ALS cục bộ</c:v>
                </c:pt>
                <c:pt idx="2">
                  <c:v>ALS + logistic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0</c:v>
                </c:pt>
                <c:pt idx="1">
                  <c:v>9.17</c:v>
                </c:pt>
                <c:pt idx="2">
                  <c:v>5.83</c:v>
                </c:pt>
              </c:numCache>
            </c:numRef>
          </c:val>
        </c:ser>
        <c:ser>
          <c:idx val="1"/>
          <c:order val="1"/>
          <c:tx>
            <c:v>NDCG@10</c:v>
          </c:tx>
          <c:spPr>
            <a:solidFill xmlns:a="http://schemas.openxmlformats.org/drawingml/2006/main">
              <a:srgbClr val="AC8CC0"/>
            </a:solidFill>
          </c:spPr>
          <c:cat>
            <c:strRef>
              <c:f>'Chart Data'!$C$2:$C$4</c:f>
              <c:strCache>
                <c:ptCount val="3"/>
                <c:pt idx="0">
                  <c:v>Phim phổ biến</c:v>
                </c:pt>
                <c:pt idx="1">
                  <c:v>ALS cục bộ</c:v>
                </c:pt>
                <c:pt idx="2">
                  <c:v>ALS + logistic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</c:v>
                </c:pt>
                <c:pt idx="1">
                  <c:v>18.89</c:v>
                </c:pt>
                <c:pt idx="2">
                  <c:v>14.21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.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9F9F9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9F9F9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C1C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EA324A-3E0E-4F44-BD32-78914468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19075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5CE37C-ABD1-4FF2-B4E7-4D720C133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1650" y="0"/>
            <a:ext cx="1905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E6FE55-E740-418A-AEED-8AA149D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04825"/>
            <a:ext cx="1714500" cy="1628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9F9"/>
          </a:solidFill>
          <a:ln xmlns:a="http://schemas.openxmlformats.org/drawingml/2006/main" w="0">
            <a:noFill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4b12d7e7cb4e72"/>
          <a:stretch xmlns:a="http://schemas.openxmlformats.org/drawingml/2006/main"/>
        </p:blipFill>
        <p:spPr>
          <a:xfrm xmlns:a="http://schemas.openxmlformats.org/drawingml/2006/main">
            <a:off x="10648950" y="675080"/>
            <a:ext cx="1562100" cy="128826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42455D-929B-4B14-8BEC-8D81867A7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42925"/>
            <a:ext cx="952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9F9F9"/>
                </a:solidFill>
                <a:latin typeface="Arial"/>
                <a:ea typeface="Arial"/>
                <a:cs typeface="Arial"/>
              </a:rPr>
              <a:t>ĐẠI HỌC CÔNG NGHỆ THÔNG TIN · ĐHQG TP.HCM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0C3123-F6C2-467B-A77D-677353C2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362075"/>
            <a:ext cx="20002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BABCDF-C81F-49AB-9032-7CCB8C12A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419225"/>
            <a:ext cx="1657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NHÓM 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99ECED-7C3A-4DA6-A14D-84532C52D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52650"/>
            <a:ext cx="11658600" cy="2352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1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HỆ THỐNG KHUYẾN NGHỊ CHO</a:t>
            </a:r>
          </a:p>
          <a:p xmlns:a="http://schemas.openxmlformats.org/drawingml/2006/main">
            <a:pPr algn="l">
              <a:defRPr sz="41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SỰ HÀI LÒNG CỦA THÀNH VIÊN</a:t>
            </a:r>
          </a:p>
          <a:p xmlns:a="http://schemas.openxmlformats.org/drawingml/2006/main">
            <a:pPr algn="l">
              <a:defRPr sz="41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DÀI HẠN TẠI NETFLIX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0E8B37-16A2-4C32-9813-16DF7B3D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24400"/>
            <a:ext cx="10763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AC8CC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AC8CC0"/>
                </a:solidFill>
                <a:latin typeface="Arial"/>
                <a:ea typeface="Arial"/>
                <a:cs typeface="Arial"/>
              </a:rPr>
              <a:t>CÔNG NGHỆ DỮ LIỆU LỚN  ·  IE212.F22.LT.CNTT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AB80E6-9BB3-4652-BE16-0A9DE945F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410200"/>
            <a:ext cx="115538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AC8CC0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389D86-0CC0-41B0-9CC7-5658A4F55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9F9F9"/>
                </a:solidFill>
                <a:latin typeface="Arial"/>
                <a:ea typeface="Arial"/>
                <a:cs typeface="Arial"/>
              </a:rPr>
              <a:t>Nguyễn Hoàng Phước  ·  25210169</a:t>
            </a:r>
          </a:p>
          <a:p xmlns:a="http://schemas.openxmlformats.org/drawingml/2006/main">
            <a:pPr algn="l">
              <a:defRPr sz="1800" b="0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9F9F9"/>
                </a:solidFill>
                <a:latin typeface="Arial"/>
                <a:ea typeface="Arial"/>
                <a:cs typeface="Arial"/>
              </a:rPr>
              <a:t>Nguyễn Hoàng Tân  ·  25210188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D789F8-49DA-441A-AB9B-E6B42CB30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5657850"/>
            <a:ext cx="590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9F9F9"/>
                </a:solidFill>
                <a:latin typeface="Arial"/>
                <a:ea typeface="Arial"/>
                <a:cs typeface="Arial"/>
              </a:rPr>
              <a:t>Lê Thị Bích Tuyền  ·  25210236</a:t>
            </a:r>
          </a:p>
          <a:p xmlns:a="http://schemas.openxmlformats.org/drawingml/2006/main">
            <a:pPr algn="l">
              <a:defRPr sz="1800" b="0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9F9F9"/>
                </a:solidFill>
                <a:latin typeface="Arial"/>
                <a:ea typeface="Arial"/>
                <a:cs typeface="Arial"/>
              </a:rPr>
              <a:t>Nguyễn Lê Thành Đạt  ·  25410029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3894ED-E6B7-44D3-816D-70AE1C770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753225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GVHD: TS. Hà Minh Tân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539167-7250-4596-8640-9419B824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753225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725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09/2026</a:t>
            </a:r>
          </a:p>
        </p:txBody>
      </p:sp>
    </p:spTree>
    <p:extLst>
      <p:ext uri="{BB962C8B-B14F-4D97-AF65-F5344CB8AC3E}">
        <p14:creationId xmlns:p14="http://schemas.microsoft.com/office/powerpoint/2010/main" val="7153148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C1C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8691BC-CE18-45FA-ACC9-F38485A7E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405465-1CB4-4CEA-976E-EA724491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BÀI TOÁN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1EEF49-3C72-410B-8EEA-6A5C75D3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BDDA68-D76E-466A-BA94-C761C8C1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3D37E0-77F5-44AF-9AD7-069E6A9E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CCB29B-91E6-49B5-BFB4-705AFFDF6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XỬ LÝ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E67CFF-4C75-4E99-B292-888C1B8F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90BAE4-A226-4190-91A1-1F40AAB5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MÔ HÌNH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55B95B-BB7F-42B2-90AB-3CAB9536B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7ABE15-9667-46CF-83FB-B0AAFAD33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KẾT QUẢ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B41630-ED48-463B-9178-34B4972A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66800"/>
            <a:ext cx="1228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HỆ THỐNG CẦN LÀM GÌ?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1DE063-FFCD-46F8-86A3-32823EBB1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685925"/>
            <a:ext cx="1219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Từ lịch sử chấm điểm đến danh sách gợi ý có thể kiểm tra.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B3DDFC-FD36-407A-B05B-C23825D30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2550" y="7258050"/>
            <a:ext cx="428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56BEB6-8384-49D4-9527-41308BF58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609850"/>
            <a:ext cx="3924300" cy="2562225"/>
          </a:xfrm>
          <a:prstGeom xmlns:a="http://schemas.openxmlformats.org/drawingml/2006/main" prst="roundRect">
            <a:avLst>
              <a:gd name="adj" fmla="val 2974"/>
            </a:avLst>
          </a:prstGeom>
          <a:solidFill xmlns:a="http://schemas.openxmlformats.org/drawingml/2006/main">
            <a:srgbClr val="F5F5F6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F64EDC-1385-4AB3-BD39-8CE8F5145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609850"/>
            <a:ext cx="39243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516DD9-445B-4EF7-ACFE-6BD3D2E4D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3448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233F"/>
                </a:solidFill>
                <a:latin typeface="Arial"/>
                <a:ea typeface="Arial"/>
                <a:cs typeface="Arial"/>
              </a:rPr>
              <a:t>1 · CHỌN PHIM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2437D2-A4C5-463A-A0AA-68FA36B6F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90925"/>
            <a:ext cx="34480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Tạo ứng viên chưa được người dùng chấm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B62B7E-69DD-43EE-92D0-2BB77BD3F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609850"/>
            <a:ext cx="3924300" cy="2562225"/>
          </a:xfrm>
          <a:prstGeom xmlns:a="http://schemas.openxmlformats.org/drawingml/2006/main" prst="roundRect">
            <a:avLst>
              <a:gd name="adj" fmla="val 2974"/>
            </a:avLst>
          </a:prstGeom>
          <a:solidFill xmlns:a="http://schemas.openxmlformats.org/drawingml/2006/main">
            <a:srgbClr val="F5F5F6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8DBCD8-0280-43A6-A546-54DEFA6B3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609850"/>
            <a:ext cx="39243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B7B901-17C6-4D72-81C9-FDF3696C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838450"/>
            <a:ext cx="3448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233F"/>
                </a:solidFill>
                <a:latin typeface="Arial"/>
                <a:ea typeface="Arial"/>
                <a:cs typeface="Arial"/>
              </a:rPr>
              <a:t>2 · XẾP HẠNG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2C5177-8618-45CA-8C6C-07A7A61B3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590925"/>
            <a:ext cx="34480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Ưu tiên phim phù hợp với từng người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6D7350-C54D-4E4C-8C3B-E6E2615AF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609850"/>
            <a:ext cx="3924300" cy="2562225"/>
          </a:xfrm>
          <a:prstGeom xmlns:a="http://schemas.openxmlformats.org/drawingml/2006/main" prst="roundRect">
            <a:avLst>
              <a:gd name="adj" fmla="val 2974"/>
            </a:avLst>
          </a:prstGeom>
          <a:solidFill xmlns:a="http://schemas.openxmlformats.org/drawingml/2006/main">
            <a:srgbClr val="F5F5F6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2D85E1-BC71-4B91-B2EE-FBDE0C4A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609850"/>
            <a:ext cx="39243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A779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D535C6-9BD6-4C7A-9934-A8C1A8E3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838450"/>
            <a:ext cx="3448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233F"/>
                </a:solidFill>
                <a:latin typeface="Arial"/>
                <a:ea typeface="Arial"/>
                <a:cs typeface="Arial"/>
              </a:rPr>
              <a:t>3 · ĐÁNH GIÁ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332048-F149-4A91-8FA5-87FA45200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590925"/>
            <a:ext cx="34480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Dùng các lượt chấm xảy ra sau để kiểm tra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ED229F-0474-419C-AFED-B38EDB55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53100"/>
            <a:ext cx="1237297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8E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12000A-8D8D-4FF5-B9C9-F6B1608C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5829300"/>
            <a:ext cx="11858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6233F"/>
                </a:solidFill>
                <a:latin typeface="Arial"/>
                <a:ea typeface="Arial"/>
                <a:cs typeface="Arial"/>
              </a:rPr>
              <a:t>MovieLens 25M là dữ liệu thử nghiệm, không phải dữ liệu thuê bao Netflix.</a:t>
            </a:r>
          </a:p>
        </p:txBody>
      </p:sp>
    </p:spTree>
    <p:extLst>
      <p:ext uri="{BB962C8B-B14F-4D97-AF65-F5344CB8AC3E}">
        <p14:creationId xmlns:p14="http://schemas.microsoft.com/office/powerpoint/2010/main" val="11752766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C1C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083697-DCA7-408E-A0F9-7B763D17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423074-B8FD-423C-8950-9F3FB8FEA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BÀI TOÁN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D7A3BC-A7A0-4619-9570-F2519E46E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DFAC89-C607-4CEB-97D1-58D8E8B9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35B821-936B-4D7C-95A3-780DB42B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13C380-DFD1-4D54-A4A5-4F7FACFE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XỬ LÝ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3BA506-8C47-46C1-A53C-E26686334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2A228C-97D7-499E-99A6-DBCF4F21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MÔ HÌNH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77A5F8-DD7D-4E25-97FE-D5ACC2388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9DA652-5894-456B-BB56-2C324CF1B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KẾT QUẢ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184071-8E88-4F66-9BAE-1088E31B6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66800"/>
            <a:ext cx="1228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HỆ THỐNG HOẠT ĐỘNG RA SAO?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E9BA7C-07B1-4744-95E9-393CAF7BB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685925"/>
            <a:ext cx="1219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Năm phần liên tiếp từ dữ liệu đến danh sách gợi ý.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A6BF21-7336-48BC-B154-79BBA5114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2550" y="7258050"/>
            <a:ext cx="428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056321-D8B8-4AAE-9788-2A6FFB26C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57675"/>
            <a:ext cx="107918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F9F9F9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18999D-CCA1-4496-9727-C0C5FBA91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12573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93B045-6491-406A-910C-FB4BEE9EA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829050"/>
            <a:ext cx="933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CA3474-F569-4D0D-8A1E-E980AD15A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91125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048685-9425-4ADE-A163-C9BBC870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638550"/>
            <a:ext cx="12573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A7E228-73E9-4630-A221-C66CE6F7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829050"/>
            <a:ext cx="933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CBC5AA-92C0-4345-B600-67F99F310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5191125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Xử lý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36DD73-B03B-413D-B762-5E8876C0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38550"/>
            <a:ext cx="12573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BCF4CA-C94C-43A6-AA29-0F153FA8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829050"/>
            <a:ext cx="933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5129F2-DE74-47E6-8D07-FD2389B10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5191125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Ứng viên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545A11-A978-4C01-9289-451CFB6EF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3638550"/>
            <a:ext cx="12573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E20B9F-7755-4273-BF02-9A9B0941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29050"/>
            <a:ext cx="933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1C8821-E3EA-4503-806E-FA74AB71B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5191125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Xếp hạng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DED8F7-66A1-497E-8512-90756E1E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8600" y="3638550"/>
            <a:ext cx="12573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1220B8-F11D-4F05-A924-C12060C9D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0525" y="3829050"/>
            <a:ext cx="933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A4F1CC-C6D1-4787-A48F-7672EAB23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5191125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Hiển thị</a:t>
            </a:r>
          </a:p>
        </p:txBody>
      </p:sp>
    </p:spTree>
    <p:extLst>
      <p:ext uri="{BB962C8B-B14F-4D97-AF65-F5344CB8AC3E}">
        <p14:creationId xmlns:p14="http://schemas.microsoft.com/office/powerpoint/2010/main" val="8636074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C1C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F8F576-40D6-4562-9454-12CB6FC2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FA5FA-5E1C-4FF1-AA8A-372496FC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BÀI TOÁN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03D017-31D8-456A-A6DA-2A57E3506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7DAD78-B937-468E-9838-878D038E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EC53BB-2846-4A26-84D4-C3903796E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E31559-B083-414C-9FDC-22DFED4D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XỬ LÝ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9B43F8-97D6-4136-8D6D-020E8765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42D444-9EB3-4F33-AB01-C15AD766E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MÔ HÌNH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52B2FF-493C-4DD7-AA94-3432DA122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253011-0DA3-418B-B9EC-C732CBBE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KẾT QUẢ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1223D0-E5AB-4313-AA47-A04B5CB1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66800"/>
            <a:ext cx="1228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TỪ LỊCH SỬ CHẤM ĐIỂM ĐẾN TOP 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E7FE4A-311B-4972-80C7-AAF4F6FD0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685925"/>
            <a:ext cx="1219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Mỗi người dùng có một danh sách phim chưa chấm được xếp theo độ phù hợp.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CD59A0-D0D3-4FD4-B6F6-86CEC2B5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2550" y="7258050"/>
            <a:ext cx="428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623D4E-1386-4D6E-9090-ECB1796B6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33650"/>
            <a:ext cx="409575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5F5F6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97D189-71BA-4986-8D68-07D8B682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33650"/>
            <a:ext cx="40957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EC65EA-6AA1-467B-9A3E-9800859F3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233F"/>
                </a:solidFill>
                <a:latin typeface="Arial"/>
                <a:ea typeface="Arial"/>
                <a:cs typeface="Arial"/>
              </a:rPr>
              <a:t>ĐẦU VÀO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325BFA-0D69-4AD6-91C1-3D52BE91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14725"/>
            <a:ext cx="36195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Lượt chấm trước đây</a:t>
            </a:r>
          </a:p>
          <a:p xmlns:a="http://schemas.openxmlformats.org/drawingml/2006/main">
            <a:pPr algn="l">
              <a:defRPr sz="1875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userId · movieId · điểm · thời gian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6E8923-FC34-421B-9522-31C600C3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676650"/>
            <a:ext cx="714375" cy="4286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AFC341-EC91-427B-BA4C-E6DFA007D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533650"/>
            <a:ext cx="314325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5F5F6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86B103-128B-40FC-A3B3-4BF51727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533650"/>
            <a:ext cx="31432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D353FF-4F78-475B-AAF9-A9A1D145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62250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233F"/>
                </a:solidFill>
                <a:latin typeface="Arial"/>
                <a:ea typeface="Arial"/>
                <a:cs typeface="Arial"/>
              </a:rPr>
              <a:t>MÔ HÌNH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4C1AB8-D5F9-439E-8B76-B12CF934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514725"/>
            <a:ext cx="26670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Chọn ứng viên và xếp hạng phim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21DF5B-29B4-47B3-80BA-F36CA384A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76650"/>
            <a:ext cx="714375" cy="4286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711022-20B3-4E32-BF6F-C2E317706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533650"/>
            <a:ext cx="306705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5F5F6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E1A014-73BE-41A1-8F8B-B786C855C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533650"/>
            <a:ext cx="30670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A779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AD1639-C744-4677-847F-5DC4F45A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2762250"/>
            <a:ext cx="259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233F"/>
                </a:solidFill>
                <a:latin typeface="Arial"/>
                <a:ea typeface="Arial"/>
                <a:cs typeface="Arial"/>
              </a:rPr>
              <a:t>ĐẦU RA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284CEF-9903-4404-8899-910055772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3514725"/>
            <a:ext cx="25908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Top 10 phim</a:t>
            </a:r>
          </a:p>
          <a:p xmlns:a="http://schemas.openxmlformats.org/drawingml/2006/main">
            <a:pPr algn="l">
              <a:defRPr sz="1875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trên dashboard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E51F51-4690-475D-BB4F-983DFD6B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857875"/>
            <a:ext cx="1181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C7F8B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7F8B6"/>
                </a:solidFill>
                <a:latin typeface="Arial"/>
                <a:ea typeface="Arial"/>
                <a:cs typeface="Arial"/>
              </a:rPr>
              <a:t>Đánh giá bằng các lượt chấm xảy ra sau thời điểm huấn luyện.</a:t>
            </a:r>
          </a:p>
        </p:txBody>
      </p:sp>
    </p:spTree>
    <p:extLst>
      <p:ext uri="{BB962C8B-B14F-4D97-AF65-F5344CB8AC3E}">
        <p14:creationId xmlns:p14="http://schemas.microsoft.com/office/powerpoint/2010/main" val="20836390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C1C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B0FFFA-79D6-4C0A-B29D-6CD7C7DD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0E5ED0-19EC-4AA0-9E97-A7A5B3362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BÀI TOÁN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8A21C4-F017-4A7E-9B23-673B6B04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9A775E-D5A6-46E8-AD05-3394C0DC6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13351E-255C-409C-B6BC-73B1045AA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E51A0D-B4D7-4A1E-8B88-32B4E63EA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XỬ LÝ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7CDD09-3AA1-4D7D-81D3-B5586463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D340EC-A91A-48EF-9A15-B416F88BF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MÔ HÌNH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68B199-5306-4755-9477-D883B222A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CC9689-9A92-41DA-BC32-B7C1BC7C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KẾT QUẢ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68C505-D842-4949-88E0-B593315D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66800"/>
            <a:ext cx="1228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DỮ LIỆU ĐẦU VÀO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CEE59B-B686-40C3-8FCA-66CAE375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685925"/>
            <a:ext cx="1219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MovieLens 25M cung cấp dữ liệu để thử quy trình.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066DDC-D709-4F1E-920B-B4477D8D6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2550" y="7258050"/>
            <a:ext cx="428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FB65B4-2F74-42D6-886A-F95628DD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438400"/>
            <a:ext cx="582930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5F5F6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02ADF6-CF49-4CEF-B928-B019F2449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438400"/>
            <a:ext cx="58293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5557B7-D3AE-4C82-8B23-F48736685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67000"/>
            <a:ext cx="5353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233F"/>
                </a:solidFill>
                <a:latin typeface="Arial"/>
                <a:ea typeface="Arial"/>
                <a:cs typeface="Arial"/>
              </a:rPr>
              <a:t>ratings.csv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81846B-1FF8-40FA-90A0-92EC8F321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19475"/>
            <a:ext cx="53530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userId · movieId</a:t>
            </a:r>
          </a:p>
          <a:p xmlns:a="http://schemas.openxmlformats.org/drawingml/2006/main">
            <a:pPr algn="l">
              <a:defRPr sz="1875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rating · timestamp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39C89B-7DF6-4D22-BEF4-D1A5EA511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438400"/>
            <a:ext cx="6334125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5F5F6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B28CA0-9BC3-4B3B-A3D1-DC3704B3E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438400"/>
            <a:ext cx="63341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4DC1DC-9429-4D56-AC81-29B678054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67000"/>
            <a:ext cx="5857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233F"/>
                </a:solidFill>
                <a:latin typeface="Arial"/>
                <a:ea typeface="Arial"/>
                <a:cs typeface="Arial"/>
              </a:rPr>
              <a:t>movies.csv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31C170-F9A7-427C-9F19-26BD4939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19475"/>
            <a:ext cx="58578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movieId · title · genres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8BFE91-06C6-4D65-BEA7-23758888F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57800"/>
            <a:ext cx="123825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5E8EC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52D942-D7E0-4C0A-94B1-67816CB5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5457825"/>
            <a:ext cx="11811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233F"/>
                </a:solidFill>
                <a:latin typeface="Arial"/>
                <a:ea typeface="Arial"/>
                <a:cs typeface="Arial"/>
              </a:rPr>
              <a:t>MovieLens không có dữ liệu thuê bao, thời lượng xem hay mức hài lòng thật của Netflix.</a:t>
            </a:r>
          </a:p>
        </p:txBody>
      </p:sp>
    </p:spTree>
    <p:extLst>
      <p:ext uri="{BB962C8B-B14F-4D97-AF65-F5344CB8AC3E}">
        <p14:creationId xmlns:p14="http://schemas.microsoft.com/office/powerpoint/2010/main" val="11738877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C1C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4F5B41-92E8-415D-BCD7-7B1A771BD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69E17D-38FE-4ECF-B0F7-40540BBB2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BÀI TOÁN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B9DD13-4C63-434D-96A4-B88F5AFC1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696CC5-145D-4143-94B1-2BA2DB21B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B9CCBC-D400-4834-B4DF-CA7F548E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0252BA-F19E-4382-89A5-A577A39C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XỬ LÝ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1ABE1C-5CA8-40B2-B7F5-67EC9BA9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1A004F-E273-4DD9-B297-CC71F4B1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MÔ HÌNH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7ECD54-190D-45BE-9EF9-0FACF765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417FAE-9AB1-46DC-96E5-ABE4670D1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KẾT QUẢ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EDBCF2-3351-4231-8DCE-B014A33D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66800"/>
            <a:ext cx="1228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BỐN TẦNG XỬ LÝ DỮ LIỆU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0D0AC5-7A23-4001-B815-D6BCE1438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685925"/>
            <a:ext cx="1219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Trong cấu hình full, HDFS lưu dữ liệu và Spark xử lý các bảng.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02F62A-8FD1-4022-9DA9-0FAA97AF6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2550" y="7258050"/>
            <a:ext cx="428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E165DC-BD41-448D-B3CE-C935EE8F3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81250"/>
            <a:ext cx="2886075" cy="3429000"/>
          </a:xfrm>
          <a:prstGeom xmlns:a="http://schemas.openxmlformats.org/drawingml/2006/main" prst="roundRect">
            <a:avLst>
              <a:gd name="adj" fmla="val 2640"/>
            </a:avLst>
          </a:prstGeom>
          <a:solidFill xmlns:a="http://schemas.openxmlformats.org/drawingml/2006/main">
            <a:srgbClr val="F5F5F6"/>
          </a:solidFill>
          <a:ln xmlns:a="http://schemas.openxmlformats.org/drawingml/2006/main" w="14288">
            <a:solidFill>
              <a:srgbClr val="195F9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D4DEDC-130D-4E69-BDFD-F683DAF3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81250"/>
            <a:ext cx="28860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7E6C5F-6CBB-43FD-8741-482077924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24098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RAW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BFA510-1418-4E2D-BAF3-82C76EDF8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43275"/>
            <a:ext cx="2362200" cy="174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Giữ nguyên tệp gốc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07C65B-2A61-4A43-B317-3608DDD56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810000"/>
            <a:ext cx="37147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9F9F9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FE968F-5899-4D73-9DBD-9B8E8834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381250"/>
            <a:ext cx="2886075" cy="3429000"/>
          </a:xfrm>
          <a:prstGeom xmlns:a="http://schemas.openxmlformats.org/drawingml/2006/main" prst="roundRect">
            <a:avLst>
              <a:gd name="adj" fmla="val 2640"/>
            </a:avLst>
          </a:prstGeom>
          <a:solidFill xmlns:a="http://schemas.openxmlformats.org/drawingml/2006/main">
            <a:srgbClr val="F5F5F6"/>
          </a:solidFill>
          <a:ln xmlns:a="http://schemas.openxmlformats.org/drawingml/2006/main" w="14288">
            <a:solidFill>
              <a:srgbClr val="50A779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44DC8B-DB6A-4780-AF00-7D49E090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381250"/>
            <a:ext cx="28860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A779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0ED488-6FBC-47A3-B5FB-71BC13DA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457450"/>
            <a:ext cx="24098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BRONZE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37648F-CAEC-4280-86FE-665566ED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343275"/>
            <a:ext cx="2362200" cy="174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Kiểm tra kiểu và bản ghi lỗi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D2EF61-B0B4-4CF0-B09F-7E3143DBA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810000"/>
            <a:ext cx="37147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9F9F9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E85868-3F8C-43A6-A693-1A661809D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81250"/>
            <a:ext cx="2886075" cy="3429000"/>
          </a:xfrm>
          <a:prstGeom xmlns:a="http://schemas.openxmlformats.org/drawingml/2006/main" prst="roundRect">
            <a:avLst>
              <a:gd name="adj" fmla="val 2640"/>
            </a:avLst>
          </a:prstGeom>
          <a:solidFill xmlns:a="http://schemas.openxmlformats.org/drawingml/2006/main">
            <a:srgbClr val="F5F5F6"/>
          </a:solidFill>
          <a:ln xmlns:a="http://schemas.openxmlformats.org/drawingml/2006/main" w="14288">
            <a:solidFill>
              <a:srgbClr val="E7B62F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21F9B0-9E82-4254-BA27-14E2BE45B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81250"/>
            <a:ext cx="28860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B62F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F6D3CF-7DC5-4D5E-A885-2DCFE2919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57450"/>
            <a:ext cx="24098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SILVER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825E26-E357-41E9-BCBF-4865F6D39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343275"/>
            <a:ext cx="2362200" cy="174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Lọc người dùng và chia theo thời gian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3C98E8-322C-4338-AF06-8F0DE793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810000"/>
            <a:ext cx="37147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9F9F9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F14288-B42D-4A29-B6DE-A7A7A1F1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381250"/>
            <a:ext cx="2886075" cy="3429000"/>
          </a:xfrm>
          <a:prstGeom xmlns:a="http://schemas.openxmlformats.org/drawingml/2006/main" prst="roundRect">
            <a:avLst>
              <a:gd name="adj" fmla="val 2640"/>
            </a:avLst>
          </a:prstGeom>
          <a:solidFill xmlns:a="http://schemas.openxmlformats.org/drawingml/2006/main">
            <a:srgbClr val="F5F5F6"/>
          </a:solidFill>
          <a:ln xmlns:a="http://schemas.openxmlformats.org/drawingml/2006/main" w="14288">
            <a:solidFill>
              <a:srgbClr val="AC8CC0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89B451-10F5-46D7-A7C0-972D792E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381250"/>
            <a:ext cx="28860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4B398D-C58F-4FAD-B0A6-4DF02178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457450"/>
            <a:ext cx="24098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GOLD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8F7B22F-8C94-4092-A1D4-3FE87EDF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43275"/>
            <a:ext cx="2362200" cy="174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Tạo đặc trưng để huấn luyện</a:t>
            </a:r>
          </a:p>
        </p:txBody>
      </p:sp>
    </p:spTree>
    <p:extLst>
      <p:ext uri="{BB962C8B-B14F-4D97-AF65-F5344CB8AC3E}">
        <p14:creationId xmlns:p14="http://schemas.microsoft.com/office/powerpoint/2010/main" val="307603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C1C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152680-1AFB-4AF2-AFF9-4A5064E2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BBB278-09AC-454A-B8A6-4CBEAA7F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BÀI TOÁN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23F4BE-459A-4428-BC15-FEE71921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5F78D7-8962-4C5A-ABF7-9177B8E10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C90F76-DC19-4A27-AC79-AC310F26E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E84398-75C6-4CE7-AEA2-DFABB1A2B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XỬ LÝ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D6FEF1-4CD6-45FC-B629-C66A975AA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5D8534-10FA-48A5-8F6B-B582226F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MÔ HÌNH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111D90-A6FE-427D-9C09-1186D7850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8964CD-A44B-4EFD-9C82-BC62DECD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KẾT QUẢ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CDCC95-6BE0-4689-95FB-AA020E8C0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66800"/>
            <a:ext cx="1228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CHỌN NGƯỜI DÙNG VÀ CHIA THEO THỜI GIAN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F2BF86-704B-4190-AC27-7962C5C7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685925"/>
            <a:ext cx="1219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Lượt chấm mới hơn chỉ dùng để điều chỉnh hoặc đánh giá.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33BE17-8DB0-4CFE-B28A-8C1E8D80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2550" y="7258050"/>
            <a:ext cx="428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E6B349-D92B-4E4D-9DF8-BCD7A04B8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54768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AC8CC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AC8CC0"/>
                </a:solidFill>
                <a:latin typeface="Arial"/>
                <a:ea typeface="Arial"/>
                <a:cs typeface="Arial"/>
              </a:rPr>
              <a:t>Ngưỡng chọn người dùng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3BF851-61CA-43AC-BD37-68093FA9C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67050"/>
            <a:ext cx="5286375" cy="1323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9F9F9"/>
                </a:solidFill>
                <a:latin typeface="Arial"/>
                <a:ea typeface="Arial"/>
                <a:cs typeface="Arial"/>
              </a:rPr>
              <a:t>FULL: ≥20 lượt chấm trong ≥180 ngày</a:t>
            </a:r>
          </a:p>
          <a:p xmlns:a="http://schemas.openxmlformats.org/drawingml/2006/main">
            <a:pPr algn="l">
              <a:defRPr sz="2100" b="0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9F9F9"/>
                </a:solidFill>
                <a:latin typeface="Arial"/>
                <a:ea typeface="Arial"/>
                <a:cs typeface="Arial"/>
              </a:rPr>
              <a:t>SMOKE: ≥5 lượt chấm trong ≥30 ngày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343BF0-0CE3-407A-9F3A-F75DEC9E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57450"/>
            <a:ext cx="58007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C8CC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C8CC0"/>
                </a:solidFill>
                <a:latin typeface="Arial"/>
                <a:ea typeface="Arial"/>
                <a:cs typeface="Arial"/>
              </a:rPr>
              <a:t>Lịch sử chấm điểm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30254F-6D2F-46B1-8A32-3387CBCB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209925"/>
            <a:ext cx="30575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341CE0-C6AB-4EFE-A645-32A110F59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429000"/>
            <a:ext cx="26955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TRAIN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C98678-1550-4417-90BB-6C37C294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209925"/>
            <a:ext cx="15430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518F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6233B9-9CCC-42D9-9D76-8206589A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429000"/>
            <a:ext cx="138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VAL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488B0D-FA8F-49F1-9D7F-3D703E387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209925"/>
            <a:ext cx="14668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A779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93D206-F720-4498-BAB3-7658E8E4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3429000"/>
            <a:ext cx="1295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860649-BA03-4AFD-94E6-B9703B8DB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400550"/>
            <a:ext cx="6038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9F9F9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8A09CF-D890-4AE5-B085-C1FD78AD2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24375"/>
            <a:ext cx="1647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Cũ hơn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FAE042-1C60-46B1-A53E-1B0FE690C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5243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Mới hơn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B1E642-DA26-4ABB-A2FD-0522AC42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43550"/>
            <a:ext cx="123348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6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36AB70-1DD6-486E-8076-758145A43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1944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233F"/>
                </a:solidFill>
                <a:latin typeface="Arial"/>
                <a:ea typeface="Arial"/>
                <a:cs typeface="Arial"/>
              </a:rPr>
              <a:t>Đặc trưng chỉ tính từ TRAIN. Phim từ 4 sao được xem là phản hồi tích cực.</a:t>
            </a:r>
          </a:p>
        </p:txBody>
      </p:sp>
    </p:spTree>
    <p:extLst>
      <p:ext uri="{BB962C8B-B14F-4D97-AF65-F5344CB8AC3E}">
        <p14:creationId xmlns:p14="http://schemas.microsoft.com/office/powerpoint/2010/main" val="43086226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C1C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AAED9A-9814-41A4-AC7F-6DA5D5A95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BF4C8D-C61F-4336-8E23-6086F554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BÀI TOÁN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0E5991-CFFA-4C96-87C1-3369A072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C0177B-3C64-4A37-A4D9-9B3DF807D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F1D7AB-522A-4CC6-9E1A-BBEEBFD7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AAD556-7BC7-49E6-9C08-E65A0DBD4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XỬ LÝ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C3420D-32BE-4371-B316-C8F7911B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DC0A70-BAE0-43BD-9B30-0909595F1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MÔ HÌNH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4074D4-5356-46B1-8451-642638680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12591D-3440-4AAB-B288-88AAE191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KẾT QUẢ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6F7390-31E8-4E53-9FA0-68FC28C8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66800"/>
            <a:ext cx="1228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BA CÁCH TẠO GỢI 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656D3B-0E3C-48AE-BF15-DB444B038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685925"/>
            <a:ext cx="1219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Phổ biến là mốc so sánh; ALS tạo ứng viên; nhánh kết hợp xếp lại danh sách.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425CA2-C5B6-4C38-9179-676DA02EB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2550" y="7258050"/>
            <a:ext cx="428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1DD436-17D2-4399-B936-94533CF1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409825"/>
            <a:ext cx="123444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6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821E88-F704-47E1-A716-13ED24D3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409825"/>
            <a:ext cx="268605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88A122-C930-4075-BD2C-7AD3E0F0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2324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PHIM PHỔ BIẾN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854BEB-BC22-409B-9ABE-324CC5776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790825"/>
            <a:ext cx="571500" cy="3143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ABA1D2-8224-43C2-A4BD-724B19FD4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647950"/>
            <a:ext cx="7810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Xếp theo số lượt chấm và điểm trung bình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1BECC7-F66B-442D-88B7-E71A87D4A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733800"/>
            <a:ext cx="123444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6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F972DC-CEF2-4AA0-937D-C216D4E54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733800"/>
            <a:ext cx="268605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A779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D0D703-03E1-4EF6-972C-8FC369CB7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90975"/>
            <a:ext cx="2324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ALS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48D2BF-EE62-4E88-B466-AFD3CEA9A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114800"/>
            <a:ext cx="571500" cy="3143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0A779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4FFC1D-3B4C-4997-B0AC-C6DC3542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971925"/>
            <a:ext cx="7810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Học mẫu chấm của người dùng và phim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32FECA-349A-4B43-80F9-EEB870762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057775"/>
            <a:ext cx="123444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6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5EAA57-BC12-4A29-8F70-3E676B450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057775"/>
            <a:ext cx="268605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14259D-7DAF-4D7A-92BA-BA8E4A5D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14950"/>
            <a:ext cx="2324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ALS KẾT HỢP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DD40E4-724D-4D5F-ABEE-57D056F8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5438775"/>
            <a:ext cx="571500" cy="3143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08FAB40-9F8B-489B-A60B-FBEA2142F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295900"/>
            <a:ext cx="7810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Xếp lại ứng viên bằng đặc trưng</a:t>
            </a:r>
          </a:p>
        </p:txBody>
      </p:sp>
    </p:spTree>
    <p:extLst>
      <p:ext uri="{BB962C8B-B14F-4D97-AF65-F5344CB8AC3E}">
        <p14:creationId xmlns:p14="http://schemas.microsoft.com/office/powerpoint/2010/main" val="66675955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C1C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A9D8CE-4248-4B40-B7FC-8CEEEF69C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224BAB-5CC1-4FC5-94E4-3F636DB46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BÀI TOÁN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82F273-C66F-4254-9C6D-6740AFB5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22B017-E6A6-46E0-8737-C476D1414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B8B449-6BEC-4E05-A498-6142069E7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07EF7E-557C-4F17-B633-ED69E1E51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XỬ LÝ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33823B-82F6-4234-9906-3FDCD150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A0E13C-60E5-45A9-8D5C-07DCFC712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MÔ HÌNH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8A487D-8F2D-4064-A516-957028EF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5CD450-A373-4CB3-BBDE-AEC4EF7FF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KẾT QUẢ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8CA27A-2B7E-47B7-866D-F721EA9C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66800"/>
            <a:ext cx="1228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FULL VÀ SMOKE LÀ HAI CẤU HÌNH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22FEBA-156E-4B50-9ABA-D3D730D3B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685925"/>
            <a:ext cx="1219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Tên mô hình giống nhau nhưng môi trường chạy và bằng chứng khác nhau.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AC3019-8D34-4B0A-9190-F1429060E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2550" y="7258050"/>
            <a:ext cx="428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BC8FDA-30AA-41A1-A932-18E93E041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47925"/>
            <a:ext cx="5848350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F5F5F6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1FE682-70F5-4D32-8021-28E0E0D22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47925"/>
            <a:ext cx="58483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833414-FD48-4DE8-8DFB-42292349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5372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233F"/>
                </a:solidFill>
                <a:latin typeface="Arial"/>
                <a:ea typeface="Arial"/>
                <a:cs typeface="Arial"/>
              </a:rPr>
              <a:t>FULL · THIẾT KẾ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2AA944-4931-40A6-AD68-A528B2BE2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29000"/>
            <a:ext cx="5372100" cy="174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MovieLens 25M</a:t>
            </a:r>
          </a:p>
          <a:p xmlns:a="http://schemas.openxmlformats.org/drawingml/2006/main">
            <a:pPr algn="l">
              <a:defRPr sz="1875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HDFS · Spark ALS</a:t>
            </a:r>
          </a:p>
          <a:p xmlns:a="http://schemas.openxmlformats.org/drawingml/2006/main">
            <a:pPr algn="l">
              <a:defRPr sz="1875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TensorFlow MLP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216ADB-CF2C-4B22-AEE3-EEEC3B21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447925"/>
            <a:ext cx="6238875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F5F5F6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386A1D-A2BA-404D-BE0B-3513027A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447925"/>
            <a:ext cx="623887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48208C-0CE6-4112-93BB-A09DA6056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676525"/>
            <a:ext cx="5762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233F"/>
                </a:solidFill>
                <a:latin typeface="Arial"/>
                <a:ea typeface="Arial"/>
                <a:cs typeface="Arial"/>
              </a:rPr>
              <a:t>SMOKE · ĐÃ CHẠY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6CBC1E-AB8F-4294-8A61-AF528EA7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429000"/>
            <a:ext cx="5762625" cy="174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Dữ liệu mẫu</a:t>
            </a:r>
          </a:p>
          <a:p xmlns:a="http://schemas.openxmlformats.org/drawingml/2006/main">
            <a:pPr algn="l">
              <a:defRPr sz="1875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Python / NumPy ALS</a:t>
            </a:r>
          </a:p>
          <a:p xmlns:a="http://schemas.openxmlformats.org/drawingml/2006/main">
            <a:pPr algn="l">
              <a:defRPr sz="1875" b="0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33F"/>
                </a:solidFill>
                <a:latin typeface="Arial"/>
                <a:ea typeface="Arial"/>
                <a:cs typeface="Arial"/>
              </a:rPr>
              <a:t>Xếp hạng lại logistic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2DD8C0-F55A-45FC-AE2C-A1607BD17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067425"/>
            <a:ext cx="12192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7F8B6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C7F8B6"/>
                </a:solidFill>
                <a:latin typeface="Arial"/>
                <a:ea typeface="Arial"/>
                <a:cs typeface="Arial"/>
              </a:rPr>
              <a:t>Bản nộp chỉ báo cáo metric của smoke.</a:t>
            </a:r>
          </a:p>
        </p:txBody>
      </p:sp>
    </p:spTree>
    <p:extLst>
      <p:ext uri="{BB962C8B-B14F-4D97-AF65-F5344CB8AC3E}">
        <p14:creationId xmlns:p14="http://schemas.microsoft.com/office/powerpoint/2010/main" val="20943284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C1C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943B96-4AC6-4729-9465-CF1810190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B76ACD-4F65-4A8B-BD2D-52E8E75D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BÀI TOÁN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453D94-4732-4447-B9BB-A23E79651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04821E-9932-4C1D-A8EC-04AC0334C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291E69-B6E0-429B-BDEB-93CE28192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7D228-7AB6-4C9C-B2A4-19684D44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XỬ LÝ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D36307-39DD-477F-8A7B-F1D89174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3DA9D0-51D9-41F8-BB9D-0365D20A7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MÔ HÌNH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36D17-1DA2-4BEF-9139-0FAF56823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108966-4D44-4A58-A584-36B2BE61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KẾT QUẢ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4CB5F1-18A8-48A7-AAD2-AD28DBC4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66800"/>
            <a:ext cx="1228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DASHBOARD: GỢI Ý CHO MỘT NGƯỜI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9EC955-C387-446A-8602-1E6A48AB6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685925"/>
            <a:ext cx="1219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Ảnh thật ở chế độ SMOKE: hồ sơ người dùng và ba danh sách phim.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8FD257-BCE1-4B8F-A2C9-6FA9BCFE8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2550" y="7258050"/>
            <a:ext cx="428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5B0B82-9CC8-4D14-9CBA-9E0A6BB1E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981200"/>
            <a:ext cx="1271587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9F9"/>
          </a:solidFill>
          <a:ln xmlns:a="http://schemas.openxmlformats.org/drawingml/2006/main" w="0">
            <a:noFill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fe13044ae44d6e"/>
          <a:stretch xmlns:a="http://schemas.openxmlformats.org/drawingml/2006/main"/>
        </p:blipFill>
        <p:spPr>
          <a:xfrm xmlns:a="http://schemas.openxmlformats.org/drawingml/2006/main">
            <a:off x="900727" y="2019300"/>
            <a:ext cx="11924071" cy="51339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0137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C1C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916DE9-DE1C-4B20-8D83-5B1A5B9C0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F34643-2E39-45CA-8CAA-EC767582D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BÀI TOÁN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4CF914-08FC-4CA0-9A09-09843BF3C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B2E788-3179-47BF-99DF-24B13426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64C75A-415A-40B0-9B73-A40880BE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16C105-B3F2-49F0-98F3-97D005B99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XỬ LÝ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BC93BE-E230-4A1D-BA35-6F2BB7058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83AC05-9D6E-45D2-8D00-D7E3EAD2D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MÔ HÌNH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A383A0-0891-41B9-9AB3-ADE650AC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4836BE-4773-42AE-B627-EFEB104B9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KẾT QUẢ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E7D183-E749-44D4-B0CD-436E52F1D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66800"/>
            <a:ext cx="1228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KẾT QUẢ SMOKE TRÊN 24 NGƯỜI DÙNG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9F17B-16F7-4655-B63C-DFB24517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685925"/>
            <a:ext cx="1219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Precision@10 và NDCG@10 (%), bản lưu 15:24 ngày 29/09/2026.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4AFBD2-675D-45E2-B519-6D7E7A61B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2550" y="7258050"/>
            <a:ext cx="428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0314AA-7C7B-451C-9AD2-16764266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12230100" cy="452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9F9"/>
          </a:solidFill>
          <a:ln xmlns:a="http://schemas.openxmlformats.org/drawingml/2006/main" w="0">
            <a:noFill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1076325" y="2514600"/>
          <a:ext xmlns:a="http://schemas.openxmlformats.org/drawingml/2006/main" cx="11515725" cy="38481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6b1a93429354f5e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297316-6A10-4880-9AD5-69AFDB89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953250"/>
            <a:ext cx="981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Nguồn: artifacts/metrics/submission_smoke_metrics.json</a:t>
            </a:r>
          </a:p>
        </p:txBody>
      </p:sp>
    </p:spTree>
    <p:extLst>
      <p:ext uri="{BB962C8B-B14F-4D97-AF65-F5344CB8AC3E}">
        <p14:creationId xmlns:p14="http://schemas.microsoft.com/office/powerpoint/2010/main" val="203907765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C1C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F1970B-F57A-4B31-8FDC-CEAC1E4D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38D726-7622-4224-973B-91FEEDB4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BÀI TOÁN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F0556A-FCDF-4A9C-9FBE-6FF086CD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87280D-7CFB-4559-9E10-1ADA88989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EFD281-4637-48DC-BA2A-9EEAAA1D0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342040-4860-45AB-A579-CF6E8105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XỬ LÝ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BC6846-901A-48A7-AAD1-2A47A2F16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5F9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433426-B7C6-4810-A2C6-2292CF4C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MÔ HÌNH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A9207F-13DD-4B31-9B86-EC9C43D41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171450"/>
            <a:ext cx="2476500" cy="533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8116C4-AE0B-40E9-8436-441A5D5C5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276225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KẾT QUẢ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F65940-71B1-4A89-AD33-94CCD9BA4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66800"/>
            <a:ext cx="1228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ĐÃ KIỂM CHỨNG GÌ?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8361E5-5464-4398-8D25-E5492C4A0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685925"/>
            <a:ext cx="1219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Chỉ kết luận trong phạm vi đã chạy trên máy.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5C8B19-8E52-49D2-8F03-69B2E719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2550" y="7258050"/>
            <a:ext cx="428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9D8AB1-02B2-4342-82E2-FFE6F25E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90800"/>
            <a:ext cx="538162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6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FDC2B1-A784-4A79-844E-464D2C66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14625"/>
            <a:ext cx="48101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025" b="1">
                <a:solidFill>
                  <a:srgbClr val="195F9A"/>
                </a:solidFill>
                <a:latin typeface="Arial"/>
                <a:ea typeface="Arial"/>
                <a:cs typeface="Arial"/>
              </a:defRPr>
            </a:pPr>
            <a:r>
              <a:rPr sz="8025" b="1">
                <a:solidFill>
                  <a:srgbClr val="195F9A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E80833-C8C0-4F56-95B2-1FA5768E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4038600"/>
            <a:ext cx="48291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233F"/>
                </a:solidFill>
                <a:latin typeface="Arial"/>
                <a:ea typeface="Arial"/>
                <a:cs typeface="Arial"/>
              </a:rPr>
              <a:t>bài kiểm thử đạt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CEB2C3-0B99-47B6-AB09-D846826B4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90800"/>
            <a:ext cx="6381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6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9951DE-E712-4A6B-8F48-67373772D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714625"/>
            <a:ext cx="58388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025" b="1">
                <a:solidFill>
                  <a:srgbClr val="76518F"/>
                </a:solidFill>
                <a:latin typeface="Arial"/>
                <a:ea typeface="Arial"/>
                <a:cs typeface="Arial"/>
              </a:defRPr>
            </a:pPr>
            <a:r>
              <a:rPr sz="8025" b="1">
                <a:solidFill>
                  <a:srgbClr val="76518F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B1187B-5C24-4CCF-89CD-66C6C977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038600"/>
            <a:ext cx="600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233F"/>
                </a:solidFill>
                <a:latin typeface="Arial"/>
                <a:ea typeface="Arial"/>
                <a:cs typeface="Arial"/>
              </a:rPr>
              <a:t>người dùng trong smoke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AE33E0-7085-462E-8645-01169D6E4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0225"/>
            <a:ext cx="12287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FB6DD1-E3AE-4D23-BCED-6BD96B7E4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5753100"/>
            <a:ext cx="118110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233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233F"/>
                </a:solidFill>
                <a:latin typeface="Arial"/>
                <a:ea typeface="Arial"/>
                <a:cs typeface="Arial"/>
              </a:rPr>
              <a:t>Còn cần chạy MovieLens 25M trên Hadoop, Spark và TensorFlow để có kết quả full.</a:t>
            </a:r>
          </a:p>
        </p:txBody>
      </p:sp>
    </p:spTree>
    <p:extLst>
      <p:ext uri="{BB962C8B-B14F-4D97-AF65-F5344CB8AC3E}">
        <p14:creationId xmlns:p14="http://schemas.microsoft.com/office/powerpoint/2010/main" val="15253771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C1C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3A9254-28C8-4519-A532-A24506E5C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8CC0"/>
          </a:solidFill>
          <a:ln xmlns:a="http://schemas.openxmlformats.org/drawingml/2006/main" w="0">
            <a:noFill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32ecabff00472c"/>
          <a:stretch xmlns:a="http://schemas.openxmlformats.org/drawingml/2006/main"/>
        </p:blipFill>
        <p:spPr>
          <a:xfrm xmlns:a="http://schemas.openxmlformats.org/drawingml/2006/main">
            <a:off x="10572750" y="801068"/>
            <a:ext cx="1695450" cy="139824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8F8957-9A3E-45B0-B608-D5EE64A17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90675"/>
            <a:ext cx="1000125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850" b="1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F9F9F9"/>
                </a:solidFill>
                <a:latin typeface="Arial"/>
                <a:ea typeface="Arial"/>
                <a:cs typeface="Arial"/>
              </a:rPr>
              <a:t>XIN CẢM ƠN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1F10D1-1FD2-4A23-9E4A-704C59CD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24175"/>
            <a:ext cx="666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1">
                <a:solidFill>
                  <a:srgbClr val="AC8CC0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AC8CC0"/>
                </a:solidFill>
                <a:latin typeface="Arial"/>
                <a:ea typeface="Arial"/>
                <a:cs typeface="Arial"/>
              </a:rPr>
              <a:t>NHÓM 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A952F0-001B-499D-857A-CE9838EE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10025"/>
            <a:ext cx="11953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AC8CC0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B92A5B-5B3B-4BDB-B1DA-02CC22F7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67225"/>
            <a:ext cx="11715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F9F9F9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9F9F9"/>
                </a:solidFill>
                <a:latin typeface="Arial"/>
                <a:ea typeface="Arial"/>
                <a:cs typeface="Arial"/>
              </a:rPr>
              <a:t>Hệ thống đã có luồng xử lý, mô hình thử và dashboard để xem kết quả.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C69042-9ADA-4873-AD35-C9F5BF138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47700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GVHD: TS. Hà Minh Tân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76107-F3A7-48BD-98D0-68495706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7277100"/>
            <a:ext cx="4476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C9C9C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9C9CE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843661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2026-09-30T04:09:07.0900000Z</dcterms:created>
  <dcterms:modified xsi:type="dcterms:W3CDTF">2026-09-30T04:09:07.0900000Z</dcterms:modified>
</coreProperties>
</file>