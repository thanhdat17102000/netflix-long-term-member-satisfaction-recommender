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49cda94a68254e0e" /><Relationship Type="http://schemas.openxmlformats.org/officeDocument/2006/relationships/extended-properties" Target="/docProps/app.xml" Id="R164901829dbc4a16" /><Relationship Type="http://schemas.openxmlformats.org/officeDocument/2006/relationships/officeDocument" Target="/ppt/presentation.xml" Id="Ra7a81e771e084ffa" /></Relationships>
</file>

<file path=ppt/presentation.xml><?xml version="1.0" encoding="utf-8"?>
<p:presentation xmlns:p="http://schemas.openxmlformats.org/presentationml/2006/main">
  <p:sldMasterIdLst>
    <p:sldMasterId xmlns:r="http://schemas.openxmlformats.org/officeDocument/2006/relationships" id="2147483648" r:id="R0bb34a803c0947ee"/>
  </p:sldMasterIdLst>
  <p:notesMasterIdLst>
    <p:notesMasterId xmlns:r="http://schemas.openxmlformats.org/officeDocument/2006/relationships" r:id="R143b57dd03404729"/>
  </p:notesMasterIdLst>
  <p:sldIdLst>
    <p:sldId xmlns:r="http://schemas.openxmlformats.org/officeDocument/2006/relationships" id="256" r:id="R75adc3f0b31c4e57"/>
    <p:sldId xmlns:r="http://schemas.openxmlformats.org/officeDocument/2006/relationships" id="257" r:id="Rf7c377d8605846dc"/>
    <p:sldId xmlns:r="http://schemas.openxmlformats.org/officeDocument/2006/relationships" id="258" r:id="Rbbc3ac8520c7450c"/>
    <p:sldId xmlns:r="http://schemas.openxmlformats.org/officeDocument/2006/relationships" id="259" r:id="R6660b106dc4e44c3"/>
    <p:sldId xmlns:r="http://schemas.openxmlformats.org/officeDocument/2006/relationships" id="260" r:id="R61d4349a699f45cf"/>
    <p:sldId xmlns:r="http://schemas.openxmlformats.org/officeDocument/2006/relationships" id="261" r:id="R9ef3e591cbbd432a"/>
    <p:sldId xmlns:r="http://schemas.openxmlformats.org/officeDocument/2006/relationships" id="262" r:id="Re236a8b9d3d54933"/>
    <p:sldId xmlns:r="http://schemas.openxmlformats.org/officeDocument/2006/relationships" id="263" r:id="R5b9fd1dbef194141"/>
    <p:sldId xmlns:r="http://schemas.openxmlformats.org/officeDocument/2006/relationships" id="264" r:id="Red3e524373bf4ed0"/>
    <p:sldId xmlns:r="http://schemas.openxmlformats.org/officeDocument/2006/relationships" id="265" r:id="Recf7848a42df4fa4"/>
    <p:sldId xmlns:r="http://schemas.openxmlformats.org/officeDocument/2006/relationships" id="266" r:id="R81235bfd3a4140b8"/>
    <p:sldId xmlns:r="http://schemas.openxmlformats.org/officeDocument/2006/relationships" id="267" r:id="R78fd147565894ae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c46d5e013e94c8d" /><Relationship Type="http://schemas.openxmlformats.org/officeDocument/2006/relationships/slideMaster" Target="/ppt/slideMasters/slideMaster1.xml" Id="R0bb34a803c0947ee" /><Relationship Type="http://schemas.openxmlformats.org/officeDocument/2006/relationships/notesMaster" Target="/ppt/notesMasters/notesMaster1.xml" Id="R143b57dd03404729" /><Relationship Type="http://schemas.openxmlformats.org/officeDocument/2006/relationships/presProps" Target="/ppt/presProps.xml" Id="Rc81922e913d0406f" /><Relationship Type="http://schemas.openxmlformats.org/officeDocument/2006/relationships/tableStyles" Target="/ppt/tableStyles.xml" Id="Rad82869dbe04418f" /><Relationship Type="http://schemas.openxmlformats.org/officeDocument/2006/relationships/slide" Target="/ppt/slides/slide1.xml" Id="R75adc3f0b31c4e57" /><Relationship Type="http://schemas.openxmlformats.org/officeDocument/2006/relationships/slide" Target="/ppt/slides/slide2.xml" Id="Rf7c377d8605846dc" /><Relationship Type="http://schemas.openxmlformats.org/officeDocument/2006/relationships/slide" Target="/ppt/slides/slide3.xml" Id="Rbbc3ac8520c7450c" /><Relationship Type="http://schemas.openxmlformats.org/officeDocument/2006/relationships/slide" Target="/ppt/slides/slide4.xml" Id="R6660b106dc4e44c3" /><Relationship Type="http://schemas.openxmlformats.org/officeDocument/2006/relationships/slide" Target="/ppt/slides/slide5.xml" Id="R61d4349a699f45cf" /><Relationship Type="http://schemas.openxmlformats.org/officeDocument/2006/relationships/slide" Target="/ppt/slides/slide6.xml" Id="R9ef3e591cbbd432a" /><Relationship Type="http://schemas.openxmlformats.org/officeDocument/2006/relationships/slide" Target="/ppt/slides/slide7.xml" Id="Re236a8b9d3d54933" /><Relationship Type="http://schemas.openxmlformats.org/officeDocument/2006/relationships/slide" Target="/ppt/slides/slide8.xml" Id="R5b9fd1dbef194141" /><Relationship Type="http://schemas.openxmlformats.org/officeDocument/2006/relationships/slide" Target="/ppt/slides/slide9.xml" Id="Red3e524373bf4ed0" /><Relationship Type="http://schemas.openxmlformats.org/officeDocument/2006/relationships/slide" Target="/ppt/slides/slide10.xml" Id="Recf7848a42df4fa4" /><Relationship Type="http://schemas.openxmlformats.org/officeDocument/2006/relationships/slide" Target="/ppt/slides/slide11.xml" Id="R81235bfd3a4140b8" /><Relationship Type="http://schemas.openxmlformats.org/officeDocument/2006/relationships/slide" Target="/ppt/slides/slide12.xml" Id="R78fd147565894ae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5ad0dd4146467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1df875090e44b8" /><Relationship Type="http://schemas.openxmlformats.org/officeDocument/2006/relationships/notesMaster" Target="/ppt/notesMasters/notesMaster1.xml" Id="Rb579c27846044d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a18e6e339b147c3" /><Relationship Type="http://schemas.openxmlformats.org/officeDocument/2006/relationships/notesMaster" Target="/ppt/notesMasters/notesMaster1.xml" Id="Rc524522713ea4c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8713f8eb36d4c02" /><Relationship Type="http://schemas.openxmlformats.org/officeDocument/2006/relationships/notesMaster" Target="/ppt/notesMasters/notesMaster1.xml" Id="R760bf095f9df4e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5620e08b1440cf" /><Relationship Type="http://schemas.openxmlformats.org/officeDocument/2006/relationships/notesMaster" Target="/ppt/notesMasters/notesMaster1.xml" Id="Ra011e294fb1546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7136ce1bdb463e" /><Relationship Type="http://schemas.openxmlformats.org/officeDocument/2006/relationships/notesMaster" Target="/ppt/notesMasters/notesMaster1.xml" Id="R9f231a1b26b44786" /></Relationships>
</file>

<file path=ppt/notesSlides/_rels/notesSlide6.xml.rels>&#65279;<?xml version="1.0" encoding="utf-8"?><Relationships xmlns="http://schemas.openxmlformats.org/package/2006/relationships"><Relationship Type="http://schemas.openxmlformats.org/officeDocument/2006/relationships/slide" Target="/ppt/slides/slide6.xml" Id="R05e9e68d10014cbd" /><Relationship Type="http://schemas.openxmlformats.org/officeDocument/2006/relationships/notesMaster" Target="/ppt/notesMasters/notesMaster1.xml" Id="R8d949fcb10a74c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ce300b86f9284437" /><Relationship Type="http://schemas.openxmlformats.org/officeDocument/2006/relationships/notesMaster" Target="/ppt/notesMasters/notesMaster1.xml" Id="R92c472be7a134a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7b75e92e312459f" /><Relationship Type="http://schemas.openxmlformats.org/officeDocument/2006/relationships/notesMaster" Target="/ppt/notesMasters/notesMaster1.xml" Id="R38320230cfa04d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121dba249c64975" /><Relationship Type="http://schemas.openxmlformats.org/officeDocument/2006/relationships/notesMaster" Target="/ppt/notesMasters/notesMaster1.xml" Id="R0ddfbbb0619443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e4cce5cf4e44bc6" /><Relationship Type="http://schemas.openxmlformats.org/officeDocument/2006/relationships/notesMaster" Target="/ppt/notesMasters/notesMaster1.xml" Id="Ra44a6e73261448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49b9bf2c4144a3e" /><Relationship Type="http://schemas.openxmlformats.org/officeDocument/2006/relationships/notesMaster" Target="/ppt/notesMasters/notesMaster1.xml" Id="R6233b956df7e4c9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53c380811704a4b" /><Relationship Type="http://schemas.openxmlformats.org/officeDocument/2006/relationships/notesMaster" Target="/ppt/notesMasters/notesMaster1.xml" Id="R7cc88baa09b84a3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Giới thiệu đề tài và nêu rõ MovieLens là dữ liệu thử nghiệm, không phải dữ liệu thuê bao Netflix.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Nêu luồng người dùng: lịch sử chấm điểm tạo ứng viên, mô hình xếp hạng rồi xuất Top 10. Phần test chỉ dùng sau huấn luyện để đánh giá.</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Sơ đồ thành phần. Các tên Spark ALS, TensorFlow MLP mô tả cấu hình full; kết quả trong bản nộp lấy từ smoke cục bộ.</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MovieLens là dữ liệu công khai để mô phỏng bài toán. Không suy ra tỷ lệ giữ chân hay sự hài lòng thật của Netflix.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Giải thích proxy người dùng dài hạn và phép chia theo thời gian. 20 lượt/180 ngày là full; 5 lượt/30 ngày là smoke.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Bốn tầng RAW, BRONZE, SILVER, GOLD. Trong demo smoke, cùng logic được chạy cục bộ bằng Python/NumPy.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Trong full, ALS là Spark ALS và bộ xếp hạng lại là TensorFlow MLP. Trong smoke, ALS cục bộ bằng NumPy và xếp hạng lại logistic.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Cần đọc nhãn trước khi đọc kết quả. Không gọi kết quả smoke là kết quả Spark hoặc TensorFlow.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Precision@10 lần lượt 0%, 9,17%, 5,83%; NDCG@10 lần lượt 0%, 18,89%, 14,21%. 24 người dùng đủ điều kiện. Không suy ra hiệu quả trên MovieLens 25M hoặc Netflix.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Ảnh chụp dashboard smoke ngày 30/09/2026. Ba cột gồm phim phổ biến, ALS cục bộ và ALS + logistic; phim mẫu trong bản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Mốc kiểm thử trước khi biên tập là 21 bài đạt. Số smoke 24 người dùng từ snapshot. Bản full chưa có số liệu kiểm chứng phù hợp để kết luận.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luận trong phạm vi đã kiểm chứng và mời câu hỏi.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220feb7ecd44f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b79fb526d44e7b" /><Relationship Type="http://schemas.openxmlformats.org/officeDocument/2006/relationships/slideLayout" Target="/ppt/slideLayouts/slideLayout1.xml" Id="Re42237fbd68e492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2237fbd68e49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da83bfac9ad43a3" /><Relationship Type="http://schemas.openxmlformats.org/officeDocument/2006/relationships/notesSlide" Target="/ppt/notesSlides/notesSlide1.xml" Id="Rc892e73c84b842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d6ca8453d33476f" /><Relationship Type="http://schemas.openxmlformats.org/officeDocument/2006/relationships/notesSlide" Target="/ppt/notesSlides/notesSlide2.xml" Id="R29b8745b8b0647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ef67a6990ba4d28" /><Relationship Type="http://schemas.openxmlformats.org/officeDocument/2006/relationships/notesSlide" Target="/ppt/notesSlides/notesSlide3.xml" Id="Rc8c02858d43c4f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cb80be57994427" /><Relationship Type="http://schemas.openxmlformats.org/officeDocument/2006/relationships/notesSlide" Target="/ppt/notesSlides/notesSlide4.xml" Id="R891e448eb73a42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7e96270ea044278" /><Relationship Type="http://schemas.openxmlformats.org/officeDocument/2006/relationships/notesSlide" Target="/ppt/notesSlides/notesSlide5.xml" Id="R6c8159001492463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601c19889434295" /><Relationship Type="http://schemas.openxmlformats.org/officeDocument/2006/relationships/notesSlide" Target="/ppt/notesSlides/notesSlide6.xml" Id="Rb0e5f28ec6ef47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708dde70d0e457d" /><Relationship Type="http://schemas.openxmlformats.org/officeDocument/2006/relationships/notesSlide" Target="/ppt/notesSlides/notesSlide7.xml" Id="R4fbdd038bfa54a7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24fdbfcf9594bcc" /><Relationship Type="http://schemas.openxmlformats.org/officeDocument/2006/relationships/notesSlide" Target="/ppt/notesSlides/notesSlide8.xml" Id="R58dfa9485d244a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18809c3e41d43cf" /><Relationship Type="http://schemas.openxmlformats.org/officeDocument/2006/relationships/chart" Target="/ppt/slides/charts/chart1.xml" Id="R61802b93fd004674" /><Relationship Type="http://schemas.openxmlformats.org/officeDocument/2006/relationships/notesSlide" Target="/ppt/notesSlides/notesSlide9.xml" Id="Rba251004e8d94e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055cebf33e748d6" /><Relationship Type="http://schemas.openxmlformats.org/officeDocument/2006/relationships/image" Target="/ppt/media/image.png" Id="R6c2c534721f74efb" /><Relationship Type="http://schemas.openxmlformats.org/officeDocument/2006/relationships/notesSlide" Target="/ppt/notesSlides/notesSlide10.xml" Id="R9fe128c5619844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d6d44fc6c614f3a" /><Relationship Type="http://schemas.openxmlformats.org/officeDocument/2006/relationships/notesSlide" Target="/ppt/notesSlides/notesSlide11.xml" Id="R516c5e09e5c34cb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f14b5f3a276491e" /><Relationship Type="http://schemas.openxmlformats.org/officeDocument/2006/relationships/notesSlide" Target="/ppt/notesSlides/notesSlide12.xml" Id="Red54d85a3c4c4bc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Precision@10</c:v>
          </c:tx>
          <c:spPr>
            <a:solidFill xmlns:a="http://schemas.openxmlformats.org/drawingml/2006/main">
              <a:srgbClr val="3C6E98"/>
            </a:solidFill>
          </c:spPr>
          <c:cat>
            <c:strRef>
              <c:f>'Chart Data'!$A$2:$A$4</c:f>
              <c:strCache>
                <c:ptCount val="3"/>
                <c:pt idx="0">
                  <c:v>Phim phổ biến</c:v>
                </c:pt>
                <c:pt idx="1">
                  <c:v>ALS cục bộ</c:v>
                </c:pt>
                <c:pt idx="2">
                  <c:v>ALS + logistic</c:v>
                </c:pt>
              </c:strCache>
            </c:strRef>
          </c:cat>
          <c:val>
            <c:numRef>
              <c:f>'Chart Data'!$B$2:$B$4</c:f>
              <c:numCache>
                <c:formatCode>General</c:formatCode>
                <c:ptCount val="3"/>
                <c:pt idx="0">
                  <c:v>0</c:v>
                </c:pt>
                <c:pt idx="1">
                  <c:v>9.17</c:v>
                </c:pt>
                <c:pt idx="2">
                  <c:v>5.83</c:v>
                </c:pt>
              </c:numCache>
            </c:numRef>
          </c:val>
        </c:ser>
        <c:ser>
          <c:idx val="1"/>
          <c:order val="1"/>
          <c:tx>
            <c:v>NDCG@10</c:v>
          </c:tx>
          <c:spPr>
            <a:solidFill xmlns:a="http://schemas.openxmlformats.org/drawingml/2006/main">
              <a:srgbClr val="D81F26"/>
            </a:solidFill>
          </c:spPr>
          <c:cat>
            <c:strRef>
              <c:f>'Chart Data'!$C$2:$C$4</c:f>
              <c:strCache>
                <c:ptCount val="3"/>
                <c:pt idx="0">
                  <c:v>Phim phổ biến</c:v>
                </c:pt>
                <c:pt idx="1">
                  <c:v>ALS cục bộ</c:v>
                </c:pt>
                <c:pt idx="2">
                  <c:v>ALS + logistic</c:v>
                </c:pt>
              </c:strCache>
            </c:strRef>
          </c:cat>
          <c:val>
            <c:numRef>
              <c:f>'Chart Data'!$D$2:$D$4</c:f>
              <c:numCache>
                <c:formatCode>General</c:formatCode>
                <c:ptCount val="3"/>
                <c:pt idx="0">
                  <c:v>0</c:v>
                </c:pt>
                <c:pt idx="1">
                  <c:v>18.89</c:v>
                </c:pt>
                <c:pt idx="2">
                  <c:v>14.21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l"/>
        <c:numFmt formatCode="0.0&quot;%&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4EAF6B1-FB16-4FDE-B3B3-DA430EFE4B4B}"/>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8DBCDA-E066-4E8B-80E6-BDD04FC05932}"/>
              </a:ext>
            </a:extLst>
          </p:cNvPr>
          <p:cNvSpPr>
            <a:spLocks xmlns:a="http://schemas.openxmlformats.org/drawingml/2006/main" noGrp="1"/>
          </p:cNvSpPr>
          <p:nvPr/>
        </p:nvSpPr>
        <p:spPr>
          <a:xfrm xmlns:a="http://schemas.openxmlformats.org/drawingml/2006/main">
            <a:off x="666750" y="1123950"/>
            <a:ext cx="76200" cy="3952875"/>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3EEA874-CBE0-4CF8-A8CC-816F9A01094A}"/>
              </a:ext>
            </a:extLst>
          </p:cNvPr>
          <p:cNvSpPr>
            <a:spLocks xmlns:a="http://schemas.openxmlformats.org/drawingml/2006/main" noGrp="1"/>
          </p:cNvSpPr>
          <p:nvPr/>
        </p:nvSpPr>
        <p:spPr>
          <a:xfrm xmlns:a="http://schemas.openxmlformats.org/drawingml/2006/main">
            <a:off x="1000125" y="590550"/>
            <a:ext cx="1028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75" b="1">
                <a:solidFill>
                  <a:srgbClr val="D8E2ED"/>
                </a:solidFill>
                <a:latin typeface="Arial"/>
                <a:ea typeface="Arial"/>
                <a:cs typeface="Arial"/>
              </a:defRPr>
            </a:pPr>
            <a:r>
              <a:rPr sz="1575" b="1">
                <a:solidFill>
                  <a:srgbClr val="D8E2ED"/>
                </a:solidFill>
                <a:latin typeface="Arial"/>
                <a:ea typeface="Arial"/>
                <a:cs typeface="Arial"/>
              </a:rPr>
              <a:t>ĐỒ ÁN CÔNG NGHỆ DỮ LIỆU LỚN  ·  NHÓM 9</a:t>
            </a:r>
          </a:p>
        </p:txBody>
      </p:sp>
      <p:sp>
        <p:nvSpPr>
          <p:cNvPr id="4" name="">
            <a:extLst xmlns:a="http://schemas.openxmlformats.org/drawingml/2006/main">
              <a:ext uri="{FF2B5EF4-FFF2-40B4-BE49-F238E27FC236}">
                <a16:creationId xmlns:a16="http://schemas.microsoft.com/office/drawing/2014/main" id="{57294C9E-3165-4916-AF97-89B40E72C7BA}"/>
              </a:ext>
            </a:extLst>
          </p:cNvPr>
          <p:cNvSpPr>
            <a:spLocks xmlns:a="http://schemas.openxmlformats.org/drawingml/2006/main" noGrp="1"/>
          </p:cNvSpPr>
          <p:nvPr/>
        </p:nvSpPr>
        <p:spPr>
          <a:xfrm xmlns:a="http://schemas.openxmlformats.org/drawingml/2006/main">
            <a:off x="1009650" y="1238250"/>
            <a:ext cx="104775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HỆ THỐNG KHUYẾN NGHỊ</a:t>
            </a:r>
          </a:p>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CHO SỰ HÀI LÒNG CỦA</a:t>
            </a:r>
          </a:p>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THÀNH VIÊN DÀI HẠN</a:t>
            </a:r>
          </a:p>
          <a:p xmlns:a="http://schemas.openxmlformats.org/drawingml/2006/main">
            <a:pPr algn="l">
              <a:defRPr sz="4200" b="1">
                <a:solidFill>
                  <a:srgbClr val="FFFFFF"/>
                </a:solidFill>
                <a:latin typeface="Arial"/>
                <a:ea typeface="Arial"/>
                <a:cs typeface="Arial"/>
              </a:defRPr>
            </a:pPr>
            <a:r>
              <a:rPr sz="4200" b="1">
                <a:solidFill>
                  <a:srgbClr val="FFFFFF"/>
                </a:solidFill>
                <a:latin typeface="Arial"/>
                <a:ea typeface="Arial"/>
                <a:cs typeface="Arial"/>
              </a:rPr>
              <a:t>TẠI NETFLIX</a:t>
            </a:r>
          </a:p>
        </p:txBody>
      </p:sp>
      <p:sp>
        <p:nvSpPr>
          <p:cNvPr id="5" name="">
            <a:extLst xmlns:a="http://schemas.openxmlformats.org/drawingml/2006/main">
              <a:ext uri="{FF2B5EF4-FFF2-40B4-BE49-F238E27FC236}">
                <a16:creationId xmlns:a16="http://schemas.microsoft.com/office/drawing/2014/main" id="{302E8B0F-4971-47C4-8020-84D05C8171BA}"/>
              </a:ext>
            </a:extLst>
          </p:cNvPr>
          <p:cNvSpPr>
            <a:spLocks xmlns:a="http://schemas.openxmlformats.org/drawingml/2006/main" noGrp="1"/>
          </p:cNvSpPr>
          <p:nvPr/>
        </p:nvSpPr>
        <p:spPr>
          <a:xfrm xmlns:a="http://schemas.openxmlformats.org/drawingml/2006/main">
            <a:off x="1009650" y="5067300"/>
            <a:ext cx="10001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0">
                <a:solidFill>
                  <a:srgbClr val="D8E2ED"/>
                </a:solidFill>
                <a:latin typeface="Arial"/>
                <a:ea typeface="Arial"/>
                <a:cs typeface="Arial"/>
              </a:defRPr>
            </a:pPr>
            <a:r>
              <a:rPr sz="1950" b="0">
                <a:solidFill>
                  <a:srgbClr val="D8E2ED"/>
                </a:solidFill>
                <a:latin typeface="Arial"/>
                <a:ea typeface="Arial"/>
                <a:cs typeface="Arial"/>
              </a:rPr>
              <a:t>MovieLens 25M dùng để thử nghiệm quy trình gợi ý phim</a:t>
            </a:r>
          </a:p>
        </p:txBody>
      </p:sp>
      <p:sp>
        <p:nvSpPr>
          <p:cNvPr id="6" name="">
            <a:extLst xmlns:a="http://schemas.openxmlformats.org/drawingml/2006/main">
              <a:ext uri="{FF2B5EF4-FFF2-40B4-BE49-F238E27FC236}">
                <a16:creationId xmlns:a16="http://schemas.microsoft.com/office/drawing/2014/main" id="{B8431B9E-3B9F-4B2E-8B49-958706012DE7}"/>
              </a:ext>
            </a:extLst>
          </p:cNvPr>
          <p:cNvSpPr>
            <a:spLocks xmlns:a="http://schemas.openxmlformats.org/drawingml/2006/main" noGrp="1"/>
          </p:cNvSpPr>
          <p:nvPr/>
        </p:nvSpPr>
        <p:spPr>
          <a:xfrm xmlns:a="http://schemas.openxmlformats.org/drawingml/2006/main">
            <a:off x="1009650" y="5819775"/>
            <a:ext cx="1009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FFFFFF"/>
                </a:solidFill>
                <a:latin typeface="Arial"/>
                <a:ea typeface="Arial"/>
                <a:cs typeface="Arial"/>
              </a:defRPr>
            </a:pPr>
            <a:r>
              <a:rPr sz="1425" b="0">
                <a:solidFill>
                  <a:srgbClr val="FFFFFF"/>
                </a:solidFill>
                <a:latin typeface="Arial"/>
                <a:ea typeface="Arial"/>
                <a:cs typeface="Arial"/>
              </a:rPr>
              <a:t>Nguyễn Hoàng Phước 25210169   ·   Nguyễn Hoàng Tân 25210188</a:t>
            </a:r>
          </a:p>
        </p:txBody>
      </p:sp>
      <p:sp>
        <p:nvSpPr>
          <p:cNvPr id="7" name="">
            <a:extLst xmlns:a="http://schemas.openxmlformats.org/drawingml/2006/main">
              <a:ext uri="{FF2B5EF4-FFF2-40B4-BE49-F238E27FC236}">
                <a16:creationId xmlns:a16="http://schemas.microsoft.com/office/drawing/2014/main" id="{AD5B7968-37C9-44F0-AA04-72CA20A6DB65}"/>
              </a:ext>
            </a:extLst>
          </p:cNvPr>
          <p:cNvSpPr>
            <a:spLocks xmlns:a="http://schemas.openxmlformats.org/drawingml/2006/main" noGrp="1"/>
          </p:cNvSpPr>
          <p:nvPr/>
        </p:nvSpPr>
        <p:spPr>
          <a:xfrm xmlns:a="http://schemas.openxmlformats.org/drawingml/2006/main">
            <a:off x="1009650" y="6153150"/>
            <a:ext cx="1009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425" b="0">
                <a:solidFill>
                  <a:srgbClr val="FFFFFF"/>
                </a:solidFill>
                <a:latin typeface="Arial"/>
                <a:ea typeface="Arial"/>
                <a:cs typeface="Arial"/>
              </a:defRPr>
            </a:pPr>
            <a:r>
              <a:rPr sz="1425" b="0">
                <a:solidFill>
                  <a:srgbClr val="FFFFFF"/>
                </a:solidFill>
                <a:latin typeface="Arial"/>
                <a:ea typeface="Arial"/>
                <a:cs typeface="Arial"/>
              </a:rPr>
              <a:t>Lê Thị Bích Tuyền 25210236   ·   Nguyễn Lê Thành Đạt 25410029</a:t>
            </a:r>
          </a:p>
        </p:txBody>
      </p:sp>
      <p:sp>
        <p:nvSpPr>
          <p:cNvPr id="8" name="">
            <a:extLst xmlns:a="http://schemas.openxmlformats.org/drawingml/2006/main">
              <a:ext uri="{FF2B5EF4-FFF2-40B4-BE49-F238E27FC236}">
                <a16:creationId xmlns:a16="http://schemas.microsoft.com/office/drawing/2014/main" id="{831AC322-61A8-4C15-8ACE-165030CE08F9}"/>
              </a:ext>
            </a:extLst>
          </p:cNvPr>
          <p:cNvSpPr>
            <a:spLocks xmlns:a="http://schemas.openxmlformats.org/drawingml/2006/main" noGrp="1"/>
          </p:cNvSpPr>
          <p:nvPr/>
        </p:nvSpPr>
        <p:spPr>
          <a:xfrm xmlns:a="http://schemas.openxmlformats.org/drawingml/2006/main">
            <a:off x="8810625" y="638175"/>
            <a:ext cx="2571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r">
              <a:defRPr sz="1425" b="1">
                <a:solidFill>
                  <a:srgbClr val="FFFFFF"/>
                </a:solidFill>
                <a:latin typeface="Arial"/>
                <a:ea typeface="Arial"/>
                <a:cs typeface="Arial"/>
              </a:defRPr>
            </a:pPr>
            <a:r>
              <a:rPr sz="1425" b="1">
                <a:solidFill>
                  <a:srgbClr val="FFFFFF"/>
                </a:solidFill>
                <a:latin typeface="Arial"/>
                <a:ea typeface="Arial"/>
                <a:cs typeface="Arial"/>
              </a:rPr>
              <a:t>GVHD: TS. Hà Minh Tân</a:t>
            </a:r>
          </a:p>
        </p:txBody>
      </p:sp>
    </p:spTree>
    <p:extLst>
      <p:ext uri="{BB962C8B-B14F-4D97-AF65-F5344CB8AC3E}">
        <p14:creationId xmlns:p14="http://schemas.microsoft.com/office/powerpoint/2010/main" val="1072687958"/>
      </p:ext>
    </p:extLst>
  </p:cSld>
</p:sld>
</file>

<file path=ppt/slides/slide2.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1BA8EBC-FDC1-48BA-ADCD-3D3E2D0F54C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BA70F18-B478-434C-81F1-97C0E5B4ED49}"/>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Người dùng nhận được gì?</a:t>
            </a:r>
          </a:p>
        </p:txBody>
      </p:sp>
      <p:sp>
        <p:nvSpPr>
          <p:cNvPr id="3" name="">
            <a:extLst xmlns:a="http://schemas.openxmlformats.org/drawingml/2006/main">
              <a:ext uri="{FF2B5EF4-FFF2-40B4-BE49-F238E27FC236}">
                <a16:creationId xmlns:a16="http://schemas.microsoft.com/office/drawing/2014/main" id="{BD5EF0A3-9309-4E85-ACB6-28472361C939}"/>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Hệ thống dựa vào các lượt chấm trước để chọn 10 phim và kiểm tra bằng lượt chấm về sau.</a:t>
            </a:r>
          </a:p>
        </p:txBody>
      </p:sp>
      <p:sp>
        <p:nvSpPr>
          <p:cNvPr id="4" name="">
            <a:extLst xmlns:a="http://schemas.openxmlformats.org/drawingml/2006/main">
              <a:ext uri="{FF2B5EF4-FFF2-40B4-BE49-F238E27FC236}">
                <a16:creationId xmlns:a16="http://schemas.microsoft.com/office/drawing/2014/main" id="{46328DDB-922D-495B-93EF-B8CA26042CDF}"/>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09EFC5DB-94C1-4147-B0AE-2FEFC8A3AB38}"/>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02</a:t>
            </a:r>
          </a:p>
        </p:txBody>
      </p:sp>
      <p:sp>
        <p:nvSpPr>
          <p:cNvPr id="6" name="">
            <a:extLst xmlns:a="http://schemas.openxmlformats.org/drawingml/2006/main">
              <a:ext uri="{FF2B5EF4-FFF2-40B4-BE49-F238E27FC236}">
                <a16:creationId xmlns:a16="http://schemas.microsoft.com/office/drawing/2014/main" id="{F17A54AB-6A0F-457B-8B0B-B2483AB930E5}"/>
              </a:ext>
            </a:extLst>
          </p:cNvPr>
          <p:cNvSpPr>
            <a:spLocks xmlns:a="http://schemas.openxmlformats.org/drawingml/2006/main" noGrp="1"/>
          </p:cNvSpPr>
          <p:nvPr/>
        </p:nvSpPr>
        <p:spPr>
          <a:xfrm xmlns:a="http://schemas.openxmlformats.org/drawingml/2006/main">
            <a:off x="714375" y="2409825"/>
            <a:ext cx="2381250" cy="1524000"/>
          </a:xfrm>
          <a:prstGeom xmlns:a="http://schemas.openxmlformats.org/drawingml/2006/main" prst="roundRect">
            <a:avLst>
              <a:gd name="adj" fmla="val 5000"/>
            </a:avLst>
          </a:prstGeom>
          <a:solidFill xmlns:a="http://schemas.openxmlformats.org/drawingml/2006/main">
            <a:srgbClr val="E8F1F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BBB14C0-75EC-41B9-BB85-379D0BF6878B}"/>
              </a:ext>
            </a:extLst>
          </p:cNvPr>
          <p:cNvSpPr>
            <a:spLocks xmlns:a="http://schemas.openxmlformats.org/drawingml/2006/main" noGrp="1"/>
          </p:cNvSpPr>
          <p:nvPr/>
        </p:nvSpPr>
        <p:spPr>
          <a:xfrm xmlns:a="http://schemas.openxmlformats.org/drawingml/2006/main">
            <a:off x="885825" y="2533650"/>
            <a:ext cx="20383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0D1B2A"/>
                </a:solidFill>
                <a:latin typeface="Arial"/>
                <a:ea typeface="Arial"/>
                <a:cs typeface="Arial"/>
              </a:defRPr>
            </a:pPr>
            <a:r>
              <a:rPr sz="1875" b="1">
                <a:solidFill>
                  <a:srgbClr val="0D1B2A"/>
                </a:solidFill>
                <a:latin typeface="Arial"/>
                <a:ea typeface="Arial"/>
                <a:cs typeface="Arial"/>
              </a:rPr>
              <a:t>Lịch sử chấm phim</a:t>
            </a:r>
          </a:p>
        </p:txBody>
      </p:sp>
      <p:sp>
        <p:nvSpPr>
          <p:cNvPr id="8" name="">
            <a:extLst xmlns:a="http://schemas.openxmlformats.org/drawingml/2006/main">
              <a:ext uri="{FF2B5EF4-FFF2-40B4-BE49-F238E27FC236}">
                <a16:creationId xmlns:a16="http://schemas.microsoft.com/office/drawing/2014/main" id="{7132EAE8-586B-455F-9F40-180AD2138ACE}"/>
              </a:ext>
            </a:extLst>
          </p:cNvPr>
          <p:cNvSpPr>
            <a:spLocks xmlns:a="http://schemas.openxmlformats.org/drawingml/2006/main" noGrp="1"/>
          </p:cNvSpPr>
          <p:nvPr/>
        </p:nvSpPr>
        <p:spPr>
          <a:xfrm xmlns:a="http://schemas.openxmlformats.org/drawingml/2006/main">
            <a:off x="885825" y="32766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0D1B2A"/>
                </a:solidFill>
                <a:latin typeface="Arial"/>
                <a:ea typeface="Arial"/>
                <a:cs typeface="Arial"/>
              </a:defRPr>
            </a:pPr>
            <a:r>
              <a:rPr sz="1275" b="0">
                <a:solidFill>
                  <a:srgbClr val="0D1B2A"/>
                </a:solidFill>
                <a:latin typeface="Arial"/>
                <a:ea typeface="Arial"/>
                <a:cs typeface="Arial"/>
              </a:rPr>
              <a:t>userId · movieId · điểm · thời gian</a:t>
            </a:r>
          </a:p>
        </p:txBody>
      </p:sp>
      <p:sp>
        <p:nvSpPr>
          <p:cNvPr id="9" name="">
            <a:extLst xmlns:a="http://schemas.openxmlformats.org/drawingml/2006/main">
              <a:ext uri="{FF2B5EF4-FFF2-40B4-BE49-F238E27FC236}">
                <a16:creationId xmlns:a16="http://schemas.microsoft.com/office/drawing/2014/main" id="{B9254051-CA65-4776-8508-7BBBF6D40336}"/>
              </a:ext>
            </a:extLst>
          </p:cNvPr>
          <p:cNvSpPr>
            <a:spLocks xmlns:a="http://schemas.openxmlformats.org/drawingml/2006/main" noGrp="1"/>
          </p:cNvSpPr>
          <p:nvPr/>
        </p:nvSpPr>
        <p:spPr>
          <a:xfrm xmlns:a="http://schemas.openxmlformats.org/drawingml/2006/main">
            <a:off x="3228975" y="3048000"/>
            <a:ext cx="52387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79F408D-EF92-44FB-9AA5-A38171CD45D2}"/>
              </a:ext>
            </a:extLst>
          </p:cNvPr>
          <p:cNvSpPr>
            <a:spLocks xmlns:a="http://schemas.openxmlformats.org/drawingml/2006/main" noGrp="1"/>
          </p:cNvSpPr>
          <p:nvPr/>
        </p:nvSpPr>
        <p:spPr>
          <a:xfrm xmlns:a="http://schemas.openxmlformats.org/drawingml/2006/main">
            <a:off x="3886200" y="2409825"/>
            <a:ext cx="23812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7472C07-01A6-4758-8DB4-E5D5347BEDFD}"/>
              </a:ext>
            </a:extLst>
          </p:cNvPr>
          <p:cNvSpPr>
            <a:spLocks xmlns:a="http://schemas.openxmlformats.org/drawingml/2006/main" noGrp="1"/>
          </p:cNvSpPr>
          <p:nvPr/>
        </p:nvSpPr>
        <p:spPr>
          <a:xfrm xmlns:a="http://schemas.openxmlformats.org/drawingml/2006/main">
            <a:off x="4057650" y="2533650"/>
            <a:ext cx="20383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0D1B2A"/>
                </a:solidFill>
                <a:latin typeface="Arial"/>
                <a:ea typeface="Arial"/>
                <a:cs typeface="Arial"/>
              </a:defRPr>
            </a:pPr>
            <a:r>
              <a:rPr sz="1875" b="1">
                <a:solidFill>
                  <a:srgbClr val="0D1B2A"/>
                </a:solidFill>
                <a:latin typeface="Arial"/>
                <a:ea typeface="Arial"/>
                <a:cs typeface="Arial"/>
              </a:rPr>
              <a:t>Danh sách ứng viên</a:t>
            </a:r>
          </a:p>
        </p:txBody>
      </p:sp>
      <p:sp>
        <p:nvSpPr>
          <p:cNvPr id="12" name="">
            <a:extLst xmlns:a="http://schemas.openxmlformats.org/drawingml/2006/main">
              <a:ext uri="{FF2B5EF4-FFF2-40B4-BE49-F238E27FC236}">
                <a16:creationId xmlns:a16="http://schemas.microsoft.com/office/drawing/2014/main" id="{79EF9AB8-D77D-4999-AB60-EE0C1E93F6EB}"/>
              </a:ext>
            </a:extLst>
          </p:cNvPr>
          <p:cNvSpPr>
            <a:spLocks xmlns:a="http://schemas.openxmlformats.org/drawingml/2006/main" noGrp="1"/>
          </p:cNvSpPr>
          <p:nvPr/>
        </p:nvSpPr>
        <p:spPr>
          <a:xfrm xmlns:a="http://schemas.openxmlformats.org/drawingml/2006/main">
            <a:off x="4057650" y="32766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0D1B2A"/>
                </a:solidFill>
                <a:latin typeface="Arial"/>
                <a:ea typeface="Arial"/>
                <a:cs typeface="Arial"/>
              </a:defRPr>
            </a:pPr>
            <a:r>
              <a:rPr sz="1275" b="0">
                <a:solidFill>
                  <a:srgbClr val="0D1B2A"/>
                </a:solidFill>
                <a:latin typeface="Arial"/>
                <a:ea typeface="Arial"/>
                <a:cs typeface="Arial"/>
              </a:rPr>
              <a:t>Phim chưa chấm của người dùng</a:t>
            </a:r>
          </a:p>
        </p:txBody>
      </p:sp>
      <p:sp>
        <p:nvSpPr>
          <p:cNvPr id="13" name="">
            <a:extLst xmlns:a="http://schemas.openxmlformats.org/drawingml/2006/main">
              <a:ext uri="{FF2B5EF4-FFF2-40B4-BE49-F238E27FC236}">
                <a16:creationId xmlns:a16="http://schemas.microsoft.com/office/drawing/2014/main" id="{5D468387-A364-42B4-8855-56CD6A4A3D86}"/>
              </a:ext>
            </a:extLst>
          </p:cNvPr>
          <p:cNvSpPr>
            <a:spLocks xmlns:a="http://schemas.openxmlformats.org/drawingml/2006/main" noGrp="1"/>
          </p:cNvSpPr>
          <p:nvPr/>
        </p:nvSpPr>
        <p:spPr>
          <a:xfrm xmlns:a="http://schemas.openxmlformats.org/drawingml/2006/main">
            <a:off x="6400800" y="3048000"/>
            <a:ext cx="52387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33C7379-1827-434F-B84B-E32DFAA5A73B}"/>
              </a:ext>
            </a:extLst>
          </p:cNvPr>
          <p:cNvSpPr>
            <a:spLocks xmlns:a="http://schemas.openxmlformats.org/drawingml/2006/main" noGrp="1"/>
          </p:cNvSpPr>
          <p:nvPr/>
        </p:nvSpPr>
        <p:spPr>
          <a:xfrm xmlns:a="http://schemas.openxmlformats.org/drawingml/2006/main">
            <a:off x="7058025" y="2409825"/>
            <a:ext cx="20002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654FE2F-A76D-4FF0-8BA2-66055C20938E}"/>
              </a:ext>
            </a:extLst>
          </p:cNvPr>
          <p:cNvSpPr>
            <a:spLocks xmlns:a="http://schemas.openxmlformats.org/drawingml/2006/main" noGrp="1"/>
          </p:cNvSpPr>
          <p:nvPr/>
        </p:nvSpPr>
        <p:spPr>
          <a:xfrm xmlns:a="http://schemas.openxmlformats.org/drawingml/2006/main">
            <a:off x="7229475" y="2533650"/>
            <a:ext cx="16573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0D1B2A"/>
                </a:solidFill>
                <a:latin typeface="Arial"/>
                <a:ea typeface="Arial"/>
                <a:cs typeface="Arial"/>
              </a:defRPr>
            </a:pPr>
            <a:r>
              <a:rPr sz="1875" b="1">
                <a:solidFill>
                  <a:srgbClr val="0D1B2A"/>
                </a:solidFill>
                <a:latin typeface="Arial"/>
                <a:ea typeface="Arial"/>
                <a:cs typeface="Arial"/>
              </a:rPr>
              <a:t>Xếp hạng</a:t>
            </a:r>
          </a:p>
        </p:txBody>
      </p:sp>
      <p:sp>
        <p:nvSpPr>
          <p:cNvPr id="16" name="">
            <a:extLst xmlns:a="http://schemas.openxmlformats.org/drawingml/2006/main">
              <a:ext uri="{FF2B5EF4-FFF2-40B4-BE49-F238E27FC236}">
                <a16:creationId xmlns:a16="http://schemas.microsoft.com/office/drawing/2014/main" id="{9E1638A2-7D65-4175-9E62-D50F876EB160}"/>
              </a:ext>
            </a:extLst>
          </p:cNvPr>
          <p:cNvSpPr>
            <a:spLocks xmlns:a="http://schemas.openxmlformats.org/drawingml/2006/main" noGrp="1"/>
          </p:cNvSpPr>
          <p:nvPr/>
        </p:nvSpPr>
        <p:spPr>
          <a:xfrm xmlns:a="http://schemas.openxmlformats.org/drawingml/2006/main">
            <a:off x="7229475" y="3276600"/>
            <a:ext cx="1657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0D1B2A"/>
                </a:solidFill>
                <a:latin typeface="Arial"/>
                <a:ea typeface="Arial"/>
                <a:cs typeface="Arial"/>
              </a:defRPr>
            </a:pPr>
            <a:r>
              <a:rPr sz="1275" b="0">
                <a:solidFill>
                  <a:srgbClr val="0D1B2A"/>
                </a:solidFill>
                <a:latin typeface="Arial"/>
                <a:ea typeface="Arial"/>
                <a:cs typeface="Arial"/>
              </a:rPr>
              <a:t>Ưu tiên phim phù hợp</a:t>
            </a:r>
          </a:p>
        </p:txBody>
      </p:sp>
      <p:sp>
        <p:nvSpPr>
          <p:cNvPr id="17" name="">
            <a:extLst xmlns:a="http://schemas.openxmlformats.org/drawingml/2006/main">
              <a:ext uri="{FF2B5EF4-FFF2-40B4-BE49-F238E27FC236}">
                <a16:creationId xmlns:a16="http://schemas.microsoft.com/office/drawing/2014/main" id="{AB087AD1-CE1C-40B1-813E-72AB0762EB10}"/>
              </a:ext>
            </a:extLst>
          </p:cNvPr>
          <p:cNvSpPr>
            <a:spLocks xmlns:a="http://schemas.openxmlformats.org/drawingml/2006/main" noGrp="1"/>
          </p:cNvSpPr>
          <p:nvPr/>
        </p:nvSpPr>
        <p:spPr>
          <a:xfrm xmlns:a="http://schemas.openxmlformats.org/drawingml/2006/main">
            <a:off x="9172575" y="3048000"/>
            <a:ext cx="52387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099AE8E-510E-411D-ACAC-7FDDC0ACF075}"/>
              </a:ext>
            </a:extLst>
          </p:cNvPr>
          <p:cNvSpPr>
            <a:spLocks xmlns:a="http://schemas.openxmlformats.org/drawingml/2006/main" noGrp="1"/>
          </p:cNvSpPr>
          <p:nvPr/>
        </p:nvSpPr>
        <p:spPr>
          <a:xfrm xmlns:a="http://schemas.openxmlformats.org/drawingml/2006/main">
            <a:off x="9829800" y="2409825"/>
            <a:ext cx="1714500" cy="1524000"/>
          </a:xfrm>
          <a:prstGeom xmlns:a="http://schemas.openxmlformats.org/drawingml/2006/main" prst="roundRect">
            <a:avLst>
              <a:gd name="adj" fmla="val 5000"/>
            </a:avLst>
          </a:prstGeom>
          <a:solidFill xmlns:a="http://schemas.openxmlformats.org/drawingml/2006/main">
            <a:srgbClr val="FBE9EA"/>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606E322-E797-404F-B733-23B864F36AE9}"/>
              </a:ext>
            </a:extLst>
          </p:cNvPr>
          <p:cNvSpPr>
            <a:spLocks xmlns:a="http://schemas.openxmlformats.org/drawingml/2006/main" noGrp="1"/>
          </p:cNvSpPr>
          <p:nvPr/>
        </p:nvSpPr>
        <p:spPr>
          <a:xfrm xmlns:a="http://schemas.openxmlformats.org/drawingml/2006/main">
            <a:off x="10001250" y="2533650"/>
            <a:ext cx="1371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D81F26"/>
                </a:solidFill>
                <a:latin typeface="Arial"/>
                <a:ea typeface="Arial"/>
                <a:cs typeface="Arial"/>
              </a:defRPr>
            </a:pPr>
            <a:r>
              <a:rPr sz="1875" b="1">
                <a:solidFill>
                  <a:srgbClr val="D81F26"/>
                </a:solidFill>
                <a:latin typeface="Arial"/>
                <a:ea typeface="Arial"/>
                <a:cs typeface="Arial"/>
              </a:rPr>
              <a:t>Top 10 phim</a:t>
            </a:r>
          </a:p>
        </p:txBody>
      </p:sp>
      <p:sp>
        <p:nvSpPr>
          <p:cNvPr id="20" name="">
            <a:extLst xmlns:a="http://schemas.openxmlformats.org/drawingml/2006/main">
              <a:ext uri="{FF2B5EF4-FFF2-40B4-BE49-F238E27FC236}">
                <a16:creationId xmlns:a16="http://schemas.microsoft.com/office/drawing/2014/main" id="{6F39EF4C-DBEC-453C-94E5-330634A6D83F}"/>
              </a:ext>
            </a:extLst>
          </p:cNvPr>
          <p:cNvSpPr>
            <a:spLocks xmlns:a="http://schemas.openxmlformats.org/drawingml/2006/main" noGrp="1"/>
          </p:cNvSpPr>
          <p:nvPr/>
        </p:nvSpPr>
        <p:spPr>
          <a:xfrm xmlns:a="http://schemas.openxmlformats.org/drawingml/2006/main">
            <a:off x="10001250" y="3276600"/>
            <a:ext cx="1371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275" b="0">
                <a:solidFill>
                  <a:srgbClr val="D81F26"/>
                </a:solidFill>
                <a:latin typeface="Arial"/>
                <a:ea typeface="Arial"/>
                <a:cs typeface="Arial"/>
              </a:defRPr>
            </a:pPr>
            <a:r>
              <a:rPr sz="1275" b="0">
                <a:solidFill>
                  <a:srgbClr val="D81F26"/>
                </a:solidFill>
                <a:latin typeface="Arial"/>
                <a:ea typeface="Arial"/>
                <a:cs typeface="Arial"/>
              </a:rPr>
              <a:t>Hiển thị trên web</a:t>
            </a:r>
          </a:p>
        </p:txBody>
      </p:sp>
      <p:sp>
        <p:nvSpPr>
          <p:cNvPr id="21" name="">
            <a:extLst xmlns:a="http://schemas.openxmlformats.org/drawingml/2006/main">
              <a:ext uri="{FF2B5EF4-FFF2-40B4-BE49-F238E27FC236}">
                <a16:creationId xmlns:a16="http://schemas.microsoft.com/office/drawing/2014/main" id="{95866537-AB5B-4555-9835-71CF4C273C7E}"/>
              </a:ext>
            </a:extLst>
          </p:cNvPr>
          <p:cNvSpPr>
            <a:spLocks xmlns:a="http://schemas.openxmlformats.org/drawingml/2006/main" noGrp="1"/>
          </p:cNvSpPr>
          <p:nvPr/>
        </p:nvSpPr>
        <p:spPr>
          <a:xfrm xmlns:a="http://schemas.openxmlformats.org/drawingml/2006/main">
            <a:off x="723900" y="4591050"/>
            <a:ext cx="342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325" b="1">
                <a:solidFill>
                  <a:srgbClr val="0D1B2A"/>
                </a:solidFill>
                <a:latin typeface="Arial"/>
                <a:ea typeface="Arial"/>
                <a:cs typeface="Arial"/>
              </a:defRPr>
            </a:pPr>
            <a:r>
              <a:rPr sz="2325" b="1">
                <a:solidFill>
                  <a:srgbClr val="0D1B2A"/>
                </a:solidFill>
                <a:latin typeface="Arial"/>
                <a:ea typeface="Arial"/>
                <a:cs typeface="Arial"/>
              </a:rPr>
              <a:t>Đánh giá ngoại tuyến</a:t>
            </a:r>
          </a:p>
        </p:txBody>
      </p:sp>
      <p:sp>
        <p:nvSpPr>
          <p:cNvPr id="22" name="">
            <a:extLst xmlns:a="http://schemas.openxmlformats.org/drawingml/2006/main">
              <a:ext uri="{FF2B5EF4-FFF2-40B4-BE49-F238E27FC236}">
                <a16:creationId xmlns:a16="http://schemas.microsoft.com/office/drawing/2014/main" id="{FD9D6036-C72C-42C5-A89D-1A192D2CCE70}"/>
              </a:ext>
            </a:extLst>
          </p:cNvPr>
          <p:cNvSpPr>
            <a:spLocks xmlns:a="http://schemas.openxmlformats.org/drawingml/2006/main" noGrp="1"/>
          </p:cNvSpPr>
          <p:nvPr/>
        </p:nvSpPr>
        <p:spPr>
          <a:xfrm xmlns:a="http://schemas.openxmlformats.org/drawingml/2006/main">
            <a:off x="4143375" y="4810125"/>
            <a:ext cx="3286125" cy="0"/>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23" name="">
            <a:extLst xmlns:a="http://schemas.openxmlformats.org/drawingml/2006/main">
              <a:ext uri="{FF2B5EF4-FFF2-40B4-BE49-F238E27FC236}">
                <a16:creationId xmlns:a16="http://schemas.microsoft.com/office/drawing/2014/main" id="{3C45E78D-9F1D-4067-9DB1-751A2BF12072}"/>
              </a:ext>
            </a:extLst>
          </p:cNvPr>
          <p:cNvSpPr>
            <a:spLocks xmlns:a="http://schemas.openxmlformats.org/drawingml/2006/main" noGrp="1"/>
          </p:cNvSpPr>
          <p:nvPr/>
        </p:nvSpPr>
        <p:spPr>
          <a:xfrm xmlns:a="http://schemas.openxmlformats.org/drawingml/2006/main">
            <a:off x="7620000" y="4581525"/>
            <a:ext cx="3524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950" b="0">
                <a:solidFill>
                  <a:srgbClr val="526176"/>
                </a:solidFill>
                <a:latin typeface="Arial"/>
                <a:ea typeface="Arial"/>
                <a:cs typeface="Arial"/>
              </a:defRPr>
            </a:pPr>
            <a:r>
              <a:rPr sz="1950" b="0">
                <a:solidFill>
                  <a:srgbClr val="526176"/>
                </a:solidFill>
                <a:latin typeface="Arial"/>
                <a:ea typeface="Arial"/>
                <a:cs typeface="Arial"/>
              </a:rPr>
              <a:t>So với các lượt chấm đến sau</a:t>
            </a:r>
          </a:p>
        </p:txBody>
      </p:sp>
    </p:spTree>
    <p:extLst>
      <p:ext uri="{BB962C8B-B14F-4D97-AF65-F5344CB8AC3E}">
        <p14:creationId xmlns:p14="http://schemas.microsoft.com/office/powerpoint/2010/main" val="1559715761"/>
      </p:ext>
    </p:extLst>
  </p:cSld>
</p:sld>
</file>

<file path=ppt/slides/slide3.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DAC9F0E2-B863-46BD-82DD-AE292A873541}"/>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993CEB-E741-4090-825A-EAACD3ECCA4A}"/>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Hệ thống gồm năm phần</a:t>
            </a:r>
          </a:p>
        </p:txBody>
      </p:sp>
      <p:sp>
        <p:nvSpPr>
          <p:cNvPr id="3" name="">
            <a:extLst xmlns:a="http://schemas.openxmlformats.org/drawingml/2006/main">
              <a:ext uri="{FF2B5EF4-FFF2-40B4-BE49-F238E27FC236}">
                <a16:creationId xmlns:a16="http://schemas.microsoft.com/office/drawing/2014/main" id="{26E30056-898E-4443-B14E-C6375B16EE0F}"/>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Dữ liệu đi từ tệp gốc đến kết quả trên dashboard.</a:t>
            </a:r>
          </a:p>
        </p:txBody>
      </p:sp>
      <p:sp>
        <p:nvSpPr>
          <p:cNvPr id="4" name="">
            <a:extLst xmlns:a="http://schemas.openxmlformats.org/drawingml/2006/main">
              <a:ext uri="{FF2B5EF4-FFF2-40B4-BE49-F238E27FC236}">
                <a16:creationId xmlns:a16="http://schemas.microsoft.com/office/drawing/2014/main" id="{E77DC330-FDA3-4AF4-9A82-09031D38EE71}"/>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6E64712C-4667-4855-9AC8-BDD7308AF35E}"/>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03</a:t>
            </a:r>
          </a:p>
        </p:txBody>
      </p:sp>
      <p:sp>
        <p:nvSpPr>
          <p:cNvPr id="6" name="">
            <a:extLst xmlns:a="http://schemas.openxmlformats.org/drawingml/2006/main">
              <a:ext uri="{FF2B5EF4-FFF2-40B4-BE49-F238E27FC236}">
                <a16:creationId xmlns:a16="http://schemas.microsoft.com/office/drawing/2014/main" id="{7E79E721-F812-47DF-84B6-4E05A70D9CE6}"/>
              </a:ext>
            </a:extLst>
          </p:cNvPr>
          <p:cNvSpPr>
            <a:spLocks xmlns:a="http://schemas.openxmlformats.org/drawingml/2006/main" noGrp="1"/>
          </p:cNvSpPr>
          <p:nvPr/>
        </p:nvSpPr>
        <p:spPr>
          <a:xfrm xmlns:a="http://schemas.openxmlformats.org/drawingml/2006/main">
            <a:off x="619125" y="2143125"/>
            <a:ext cx="1981200" cy="2543175"/>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CD6E0"/>
            </a:solidFill>
          </a:ln>
        </p:spPr>
      </p:sp>
      <p:sp>
        <p:nvSpPr>
          <p:cNvPr id="7" name="">
            <a:extLst xmlns:a="http://schemas.openxmlformats.org/drawingml/2006/main">
              <a:ext uri="{FF2B5EF4-FFF2-40B4-BE49-F238E27FC236}">
                <a16:creationId xmlns:a16="http://schemas.microsoft.com/office/drawing/2014/main" id="{FF8C5476-F089-4720-B58B-F154781FCF6C}"/>
              </a:ext>
            </a:extLst>
          </p:cNvPr>
          <p:cNvSpPr>
            <a:spLocks xmlns:a="http://schemas.openxmlformats.org/drawingml/2006/main" noGrp="1"/>
          </p:cNvSpPr>
          <p:nvPr/>
        </p:nvSpPr>
        <p:spPr>
          <a:xfrm xmlns:a="http://schemas.openxmlformats.org/drawingml/2006/main">
            <a:off x="762000" y="2362200"/>
            <a:ext cx="16954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D81F26"/>
                </a:solidFill>
                <a:latin typeface="Arial"/>
                <a:ea typeface="Arial"/>
                <a:cs typeface="Arial"/>
              </a:defRPr>
            </a:pPr>
            <a:r>
              <a:rPr sz="1650" b="1">
                <a:solidFill>
                  <a:srgbClr val="D81F26"/>
                </a:solidFill>
                <a:latin typeface="Arial"/>
                <a:ea typeface="Arial"/>
                <a:cs typeface="Arial"/>
              </a:rPr>
              <a:t>1  ĐẦU VÀO</a:t>
            </a:r>
          </a:p>
        </p:txBody>
      </p:sp>
      <p:sp>
        <p:nvSpPr>
          <p:cNvPr id="8" name="">
            <a:extLst xmlns:a="http://schemas.openxmlformats.org/drawingml/2006/main">
              <a:ext uri="{FF2B5EF4-FFF2-40B4-BE49-F238E27FC236}">
                <a16:creationId xmlns:a16="http://schemas.microsoft.com/office/drawing/2014/main" id="{87AFA519-6311-4B5B-B233-6AC6256537FB}"/>
              </a:ext>
            </a:extLst>
          </p:cNvPr>
          <p:cNvSpPr>
            <a:spLocks xmlns:a="http://schemas.openxmlformats.org/drawingml/2006/main" noGrp="1"/>
          </p:cNvSpPr>
          <p:nvPr/>
        </p:nvSpPr>
        <p:spPr>
          <a:xfrm xmlns:a="http://schemas.openxmlformats.org/drawingml/2006/main">
            <a:off x="771525" y="2867025"/>
            <a:ext cx="16573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9" name="">
            <a:extLst xmlns:a="http://schemas.openxmlformats.org/drawingml/2006/main">
              <a:ext uri="{FF2B5EF4-FFF2-40B4-BE49-F238E27FC236}">
                <a16:creationId xmlns:a16="http://schemas.microsoft.com/office/drawing/2014/main" id="{15FDE56E-5AF2-46EA-8FB8-FF660207DFA4}"/>
              </a:ext>
            </a:extLst>
          </p:cNvPr>
          <p:cNvSpPr>
            <a:spLocks xmlns:a="http://schemas.openxmlformats.org/drawingml/2006/main" noGrp="1"/>
          </p:cNvSpPr>
          <p:nvPr/>
        </p:nvSpPr>
        <p:spPr>
          <a:xfrm xmlns:a="http://schemas.openxmlformats.org/drawingml/2006/main">
            <a:off x="781050" y="3152775"/>
            <a:ext cx="1666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MovieLens</a:t>
            </a:r>
          </a:p>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ratings + movies</a:t>
            </a:r>
          </a:p>
        </p:txBody>
      </p:sp>
      <p:sp>
        <p:nvSpPr>
          <p:cNvPr id="10" name="">
            <a:extLst xmlns:a="http://schemas.openxmlformats.org/drawingml/2006/main">
              <a:ext uri="{FF2B5EF4-FFF2-40B4-BE49-F238E27FC236}">
                <a16:creationId xmlns:a16="http://schemas.microsoft.com/office/drawing/2014/main" id="{E1482AC0-C39E-4434-8EE6-BF975ED4D735}"/>
              </a:ext>
            </a:extLst>
          </p:cNvPr>
          <p:cNvSpPr>
            <a:spLocks xmlns:a="http://schemas.openxmlformats.org/drawingml/2006/main" noGrp="1"/>
          </p:cNvSpPr>
          <p:nvPr/>
        </p:nvSpPr>
        <p:spPr>
          <a:xfrm xmlns:a="http://schemas.openxmlformats.org/drawingml/2006/main">
            <a:off x="2628900" y="3248025"/>
            <a:ext cx="304800"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D4CB95-B0CD-451E-9ED6-3E46143A8211}"/>
              </a:ext>
            </a:extLst>
          </p:cNvPr>
          <p:cNvSpPr>
            <a:spLocks xmlns:a="http://schemas.openxmlformats.org/drawingml/2006/main" noGrp="1"/>
          </p:cNvSpPr>
          <p:nvPr/>
        </p:nvSpPr>
        <p:spPr>
          <a:xfrm xmlns:a="http://schemas.openxmlformats.org/drawingml/2006/main">
            <a:off x="2962275" y="2143125"/>
            <a:ext cx="1981200" cy="2543175"/>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CD6E0"/>
            </a:solidFill>
          </a:ln>
        </p:spPr>
      </p:sp>
      <p:sp>
        <p:nvSpPr>
          <p:cNvPr id="12" name="">
            <a:extLst xmlns:a="http://schemas.openxmlformats.org/drawingml/2006/main">
              <a:ext uri="{FF2B5EF4-FFF2-40B4-BE49-F238E27FC236}">
                <a16:creationId xmlns:a16="http://schemas.microsoft.com/office/drawing/2014/main" id="{E406271F-B139-45FC-974C-C6BF1BD6A31F}"/>
              </a:ext>
            </a:extLst>
          </p:cNvPr>
          <p:cNvSpPr>
            <a:spLocks xmlns:a="http://schemas.openxmlformats.org/drawingml/2006/main" noGrp="1"/>
          </p:cNvSpPr>
          <p:nvPr/>
        </p:nvSpPr>
        <p:spPr>
          <a:xfrm xmlns:a="http://schemas.openxmlformats.org/drawingml/2006/main">
            <a:off x="3105150" y="2362200"/>
            <a:ext cx="16954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D81F26"/>
                </a:solidFill>
                <a:latin typeface="Arial"/>
                <a:ea typeface="Arial"/>
                <a:cs typeface="Arial"/>
              </a:defRPr>
            </a:pPr>
            <a:r>
              <a:rPr sz="1650" b="1">
                <a:solidFill>
                  <a:srgbClr val="D81F26"/>
                </a:solidFill>
                <a:latin typeface="Arial"/>
                <a:ea typeface="Arial"/>
                <a:cs typeface="Arial"/>
              </a:rPr>
              <a:t>2  XỬ LÝ</a:t>
            </a:r>
          </a:p>
        </p:txBody>
      </p:sp>
      <p:sp>
        <p:nvSpPr>
          <p:cNvPr id="13" name="">
            <a:extLst xmlns:a="http://schemas.openxmlformats.org/drawingml/2006/main">
              <a:ext uri="{FF2B5EF4-FFF2-40B4-BE49-F238E27FC236}">
                <a16:creationId xmlns:a16="http://schemas.microsoft.com/office/drawing/2014/main" id="{AC9DD2BB-BD3A-4CAC-A862-C09C7B8539B4}"/>
              </a:ext>
            </a:extLst>
          </p:cNvPr>
          <p:cNvSpPr>
            <a:spLocks xmlns:a="http://schemas.openxmlformats.org/drawingml/2006/main" noGrp="1"/>
          </p:cNvSpPr>
          <p:nvPr/>
        </p:nvSpPr>
        <p:spPr>
          <a:xfrm xmlns:a="http://schemas.openxmlformats.org/drawingml/2006/main">
            <a:off x="3114675" y="2867025"/>
            <a:ext cx="16573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14" name="">
            <a:extLst xmlns:a="http://schemas.openxmlformats.org/drawingml/2006/main">
              <a:ext uri="{FF2B5EF4-FFF2-40B4-BE49-F238E27FC236}">
                <a16:creationId xmlns:a16="http://schemas.microsoft.com/office/drawing/2014/main" id="{D158E63F-6452-479B-97BA-173CCD7060CF}"/>
              </a:ext>
            </a:extLst>
          </p:cNvPr>
          <p:cNvSpPr>
            <a:spLocks xmlns:a="http://schemas.openxmlformats.org/drawingml/2006/main" noGrp="1"/>
          </p:cNvSpPr>
          <p:nvPr/>
        </p:nvSpPr>
        <p:spPr>
          <a:xfrm xmlns:a="http://schemas.openxmlformats.org/drawingml/2006/main">
            <a:off x="3124200" y="3152775"/>
            <a:ext cx="1666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RAW → BRONZE</a:t>
            </a:r>
          </a:p>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SILVER → GOLD</a:t>
            </a:r>
          </a:p>
        </p:txBody>
      </p:sp>
      <p:sp>
        <p:nvSpPr>
          <p:cNvPr id="15" name="">
            <a:extLst xmlns:a="http://schemas.openxmlformats.org/drawingml/2006/main">
              <a:ext uri="{FF2B5EF4-FFF2-40B4-BE49-F238E27FC236}">
                <a16:creationId xmlns:a16="http://schemas.microsoft.com/office/drawing/2014/main" id="{136B7AD1-913F-4080-A964-0CE2DEB0A581}"/>
              </a:ext>
            </a:extLst>
          </p:cNvPr>
          <p:cNvSpPr>
            <a:spLocks xmlns:a="http://schemas.openxmlformats.org/drawingml/2006/main" noGrp="1"/>
          </p:cNvSpPr>
          <p:nvPr/>
        </p:nvSpPr>
        <p:spPr>
          <a:xfrm xmlns:a="http://schemas.openxmlformats.org/drawingml/2006/main">
            <a:off x="4972050" y="3248025"/>
            <a:ext cx="304800"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AC42E49-3E89-4F72-84D7-7109B1D24445}"/>
              </a:ext>
            </a:extLst>
          </p:cNvPr>
          <p:cNvSpPr>
            <a:spLocks xmlns:a="http://schemas.openxmlformats.org/drawingml/2006/main" noGrp="1"/>
          </p:cNvSpPr>
          <p:nvPr/>
        </p:nvSpPr>
        <p:spPr>
          <a:xfrm xmlns:a="http://schemas.openxmlformats.org/drawingml/2006/main">
            <a:off x="5305425" y="2143125"/>
            <a:ext cx="1981200" cy="2543175"/>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CD6E0"/>
            </a:solidFill>
          </a:ln>
        </p:spPr>
      </p:sp>
      <p:sp>
        <p:nvSpPr>
          <p:cNvPr id="17" name="">
            <a:extLst xmlns:a="http://schemas.openxmlformats.org/drawingml/2006/main">
              <a:ext uri="{FF2B5EF4-FFF2-40B4-BE49-F238E27FC236}">
                <a16:creationId xmlns:a16="http://schemas.microsoft.com/office/drawing/2014/main" id="{8D583B0C-8564-4639-A8F9-A3C94E3344E9}"/>
              </a:ext>
            </a:extLst>
          </p:cNvPr>
          <p:cNvSpPr>
            <a:spLocks xmlns:a="http://schemas.openxmlformats.org/drawingml/2006/main" noGrp="1"/>
          </p:cNvSpPr>
          <p:nvPr/>
        </p:nvSpPr>
        <p:spPr>
          <a:xfrm xmlns:a="http://schemas.openxmlformats.org/drawingml/2006/main">
            <a:off x="5448300" y="2362200"/>
            <a:ext cx="16954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D81F26"/>
                </a:solidFill>
                <a:latin typeface="Arial"/>
                <a:ea typeface="Arial"/>
                <a:cs typeface="Arial"/>
              </a:defRPr>
            </a:pPr>
            <a:r>
              <a:rPr sz="1650" b="1">
                <a:solidFill>
                  <a:srgbClr val="D81F26"/>
                </a:solidFill>
                <a:latin typeface="Arial"/>
                <a:ea typeface="Arial"/>
                <a:cs typeface="Arial"/>
              </a:rPr>
              <a:t>3  ỨNG VIÊN</a:t>
            </a:r>
          </a:p>
        </p:txBody>
      </p:sp>
      <p:sp>
        <p:nvSpPr>
          <p:cNvPr id="18" name="">
            <a:extLst xmlns:a="http://schemas.openxmlformats.org/drawingml/2006/main">
              <a:ext uri="{FF2B5EF4-FFF2-40B4-BE49-F238E27FC236}">
                <a16:creationId xmlns:a16="http://schemas.microsoft.com/office/drawing/2014/main" id="{3AD7B6F1-04AE-44A1-8047-FCC3B7C5CE60}"/>
              </a:ext>
            </a:extLst>
          </p:cNvPr>
          <p:cNvSpPr>
            <a:spLocks xmlns:a="http://schemas.openxmlformats.org/drawingml/2006/main" noGrp="1"/>
          </p:cNvSpPr>
          <p:nvPr/>
        </p:nvSpPr>
        <p:spPr>
          <a:xfrm xmlns:a="http://schemas.openxmlformats.org/drawingml/2006/main">
            <a:off x="5457825" y="2867025"/>
            <a:ext cx="16573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19" name="">
            <a:extLst xmlns:a="http://schemas.openxmlformats.org/drawingml/2006/main">
              <a:ext uri="{FF2B5EF4-FFF2-40B4-BE49-F238E27FC236}">
                <a16:creationId xmlns:a16="http://schemas.microsoft.com/office/drawing/2014/main" id="{AAE9122B-2255-4725-97F4-02B9AD2FE841}"/>
              </a:ext>
            </a:extLst>
          </p:cNvPr>
          <p:cNvSpPr>
            <a:spLocks xmlns:a="http://schemas.openxmlformats.org/drawingml/2006/main" noGrp="1"/>
          </p:cNvSpPr>
          <p:nvPr/>
        </p:nvSpPr>
        <p:spPr>
          <a:xfrm xmlns:a="http://schemas.openxmlformats.org/drawingml/2006/main">
            <a:off x="5467350" y="3152775"/>
            <a:ext cx="1666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Phổ biến</a:t>
            </a:r>
          </a:p>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ALS</a:t>
            </a:r>
          </a:p>
        </p:txBody>
      </p:sp>
      <p:sp>
        <p:nvSpPr>
          <p:cNvPr id="20" name="">
            <a:extLst xmlns:a="http://schemas.openxmlformats.org/drawingml/2006/main">
              <a:ext uri="{FF2B5EF4-FFF2-40B4-BE49-F238E27FC236}">
                <a16:creationId xmlns:a16="http://schemas.microsoft.com/office/drawing/2014/main" id="{3A41B6E4-6857-48E0-A931-52A96E05ED61}"/>
              </a:ext>
            </a:extLst>
          </p:cNvPr>
          <p:cNvSpPr>
            <a:spLocks xmlns:a="http://schemas.openxmlformats.org/drawingml/2006/main" noGrp="1"/>
          </p:cNvSpPr>
          <p:nvPr/>
        </p:nvSpPr>
        <p:spPr>
          <a:xfrm xmlns:a="http://schemas.openxmlformats.org/drawingml/2006/main">
            <a:off x="7315200" y="3248025"/>
            <a:ext cx="304800"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6F3200E-D3A9-4FC5-9994-E0CE8BEB71E5}"/>
              </a:ext>
            </a:extLst>
          </p:cNvPr>
          <p:cNvSpPr>
            <a:spLocks xmlns:a="http://schemas.openxmlformats.org/drawingml/2006/main" noGrp="1"/>
          </p:cNvSpPr>
          <p:nvPr/>
        </p:nvSpPr>
        <p:spPr>
          <a:xfrm xmlns:a="http://schemas.openxmlformats.org/drawingml/2006/main">
            <a:off x="7648575" y="2143125"/>
            <a:ext cx="1981200" cy="2543175"/>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CD6E0"/>
            </a:solidFill>
          </a:ln>
        </p:spPr>
      </p:sp>
      <p:sp>
        <p:nvSpPr>
          <p:cNvPr id="22" name="">
            <a:extLst xmlns:a="http://schemas.openxmlformats.org/drawingml/2006/main">
              <a:ext uri="{FF2B5EF4-FFF2-40B4-BE49-F238E27FC236}">
                <a16:creationId xmlns:a16="http://schemas.microsoft.com/office/drawing/2014/main" id="{1DC228FE-DEF5-4C31-9E19-59B395AC96C4}"/>
              </a:ext>
            </a:extLst>
          </p:cNvPr>
          <p:cNvSpPr>
            <a:spLocks xmlns:a="http://schemas.openxmlformats.org/drawingml/2006/main" noGrp="1"/>
          </p:cNvSpPr>
          <p:nvPr/>
        </p:nvSpPr>
        <p:spPr>
          <a:xfrm xmlns:a="http://schemas.openxmlformats.org/drawingml/2006/main">
            <a:off x="7791450" y="2362200"/>
            <a:ext cx="16954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D81F26"/>
                </a:solidFill>
                <a:latin typeface="Arial"/>
                <a:ea typeface="Arial"/>
                <a:cs typeface="Arial"/>
              </a:defRPr>
            </a:pPr>
            <a:r>
              <a:rPr sz="1650" b="1">
                <a:solidFill>
                  <a:srgbClr val="D81F26"/>
                </a:solidFill>
                <a:latin typeface="Arial"/>
                <a:ea typeface="Arial"/>
                <a:cs typeface="Arial"/>
              </a:rPr>
              <a:t>4  XẾP HẠNG</a:t>
            </a:r>
          </a:p>
        </p:txBody>
      </p:sp>
      <p:sp>
        <p:nvSpPr>
          <p:cNvPr id="23" name="">
            <a:extLst xmlns:a="http://schemas.openxmlformats.org/drawingml/2006/main">
              <a:ext uri="{FF2B5EF4-FFF2-40B4-BE49-F238E27FC236}">
                <a16:creationId xmlns:a16="http://schemas.microsoft.com/office/drawing/2014/main" id="{EB850111-3F5A-40D8-8D9B-6F375E0970BC}"/>
              </a:ext>
            </a:extLst>
          </p:cNvPr>
          <p:cNvSpPr>
            <a:spLocks xmlns:a="http://schemas.openxmlformats.org/drawingml/2006/main" noGrp="1"/>
          </p:cNvSpPr>
          <p:nvPr/>
        </p:nvSpPr>
        <p:spPr>
          <a:xfrm xmlns:a="http://schemas.openxmlformats.org/drawingml/2006/main">
            <a:off x="7800975" y="2867025"/>
            <a:ext cx="16573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24" name="">
            <a:extLst xmlns:a="http://schemas.openxmlformats.org/drawingml/2006/main">
              <a:ext uri="{FF2B5EF4-FFF2-40B4-BE49-F238E27FC236}">
                <a16:creationId xmlns:a16="http://schemas.microsoft.com/office/drawing/2014/main" id="{AD329347-970D-4854-AF00-5A89D6A81FD6}"/>
              </a:ext>
            </a:extLst>
          </p:cNvPr>
          <p:cNvSpPr>
            <a:spLocks xmlns:a="http://schemas.openxmlformats.org/drawingml/2006/main" noGrp="1"/>
          </p:cNvSpPr>
          <p:nvPr/>
        </p:nvSpPr>
        <p:spPr>
          <a:xfrm xmlns:a="http://schemas.openxmlformats.org/drawingml/2006/main">
            <a:off x="7810500" y="3152775"/>
            <a:ext cx="1666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ALS + đặc trưng</a:t>
            </a:r>
          </a:p>
          <a:p xmlns:a="http://schemas.openxmlformats.org/drawingml/2006/main">
            <a:pPr algn="l">
              <a:defRPr sz="1800" b="0">
                <a:solidFill>
                  <a:srgbClr val="17243B"/>
                </a:solidFill>
                <a:latin typeface="Arial"/>
                <a:ea typeface="Arial"/>
                <a:cs typeface="Arial"/>
              </a:defRPr>
            </a:pPr>
            <a:r>
              <a:rPr sz="1800" b="0">
                <a:solidFill>
                  <a:srgbClr val="17243B"/>
                </a:solidFill>
                <a:latin typeface="Arial"/>
                <a:ea typeface="Arial"/>
                <a:cs typeface="Arial"/>
              </a:rPr>
              <a:t>MLP ở bản full</a:t>
            </a:r>
          </a:p>
        </p:txBody>
      </p:sp>
      <p:sp>
        <p:nvSpPr>
          <p:cNvPr id="25" name="">
            <a:extLst xmlns:a="http://schemas.openxmlformats.org/drawingml/2006/main">
              <a:ext uri="{FF2B5EF4-FFF2-40B4-BE49-F238E27FC236}">
                <a16:creationId xmlns:a16="http://schemas.microsoft.com/office/drawing/2014/main" id="{FA56DF66-31A6-4171-9B27-7E3301356FD8}"/>
              </a:ext>
            </a:extLst>
          </p:cNvPr>
          <p:cNvSpPr>
            <a:spLocks xmlns:a="http://schemas.openxmlformats.org/drawingml/2006/main" noGrp="1"/>
          </p:cNvSpPr>
          <p:nvPr/>
        </p:nvSpPr>
        <p:spPr>
          <a:xfrm xmlns:a="http://schemas.openxmlformats.org/drawingml/2006/main">
            <a:off x="9658350" y="3248025"/>
            <a:ext cx="304800"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8DE56A6-DFC7-46A9-885D-4D0C99D9D8BB}"/>
              </a:ext>
            </a:extLst>
          </p:cNvPr>
          <p:cNvSpPr>
            <a:spLocks xmlns:a="http://schemas.openxmlformats.org/drawingml/2006/main" noGrp="1"/>
          </p:cNvSpPr>
          <p:nvPr/>
        </p:nvSpPr>
        <p:spPr>
          <a:xfrm xmlns:a="http://schemas.openxmlformats.org/drawingml/2006/main">
            <a:off x="9991725" y="2143125"/>
            <a:ext cx="1981200" cy="2543175"/>
          </a:xfrm>
          <a:prstGeom xmlns:a="http://schemas.openxmlformats.org/drawingml/2006/main" prst="roundRect">
            <a:avLst>
              <a:gd name="adj" fmla="val 3846"/>
            </a:avLst>
          </a:prstGeom>
          <a:solidFill xmlns:a="http://schemas.openxmlformats.org/drawingml/2006/main">
            <a:srgbClr val="0D1B2A"/>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954E228-BD37-4893-9A39-062E8ECE3EB5}"/>
              </a:ext>
            </a:extLst>
          </p:cNvPr>
          <p:cNvSpPr>
            <a:spLocks xmlns:a="http://schemas.openxmlformats.org/drawingml/2006/main" noGrp="1"/>
          </p:cNvSpPr>
          <p:nvPr/>
        </p:nvSpPr>
        <p:spPr>
          <a:xfrm xmlns:a="http://schemas.openxmlformats.org/drawingml/2006/main">
            <a:off x="10134600" y="2362200"/>
            <a:ext cx="16954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1">
                <a:solidFill>
                  <a:srgbClr val="FFFFFF"/>
                </a:solidFill>
                <a:latin typeface="Arial"/>
                <a:ea typeface="Arial"/>
                <a:cs typeface="Arial"/>
              </a:defRPr>
            </a:pPr>
            <a:r>
              <a:rPr sz="1650" b="1">
                <a:solidFill>
                  <a:srgbClr val="FFFFFF"/>
                </a:solidFill>
                <a:latin typeface="Arial"/>
                <a:ea typeface="Arial"/>
                <a:cs typeface="Arial"/>
              </a:rPr>
              <a:t>5  HIỂN THỊ</a:t>
            </a:r>
          </a:p>
        </p:txBody>
      </p:sp>
      <p:sp>
        <p:nvSpPr>
          <p:cNvPr id="28" name="">
            <a:extLst xmlns:a="http://schemas.openxmlformats.org/drawingml/2006/main">
              <a:ext uri="{FF2B5EF4-FFF2-40B4-BE49-F238E27FC236}">
                <a16:creationId xmlns:a16="http://schemas.microsoft.com/office/drawing/2014/main" id="{85CFA170-7733-49FC-8BA5-82634698DBF1}"/>
              </a:ext>
            </a:extLst>
          </p:cNvPr>
          <p:cNvSpPr>
            <a:spLocks xmlns:a="http://schemas.openxmlformats.org/drawingml/2006/main" noGrp="1"/>
          </p:cNvSpPr>
          <p:nvPr/>
        </p:nvSpPr>
        <p:spPr>
          <a:xfrm xmlns:a="http://schemas.openxmlformats.org/drawingml/2006/main">
            <a:off x="10144125" y="2867025"/>
            <a:ext cx="1657350" cy="0"/>
          </a:xfrm>
          <a:prstGeom xmlns:a="http://schemas.openxmlformats.org/drawingml/2006/main" prst="line">
            <a:avLst/>
          </a:prstGeom>
          <a:noFill xmlns:a="http://schemas.openxmlformats.org/drawingml/2006/main"/>
          <a:ln xmlns:a="http://schemas.openxmlformats.org/drawingml/2006/main" w="19050">
            <a:solidFill>
              <a:srgbClr val="506079"/>
            </a:solidFill>
          </a:ln>
        </p:spPr>
      </p:sp>
      <p:sp>
        <p:nvSpPr>
          <p:cNvPr id="29" name="">
            <a:extLst xmlns:a="http://schemas.openxmlformats.org/drawingml/2006/main">
              <a:ext uri="{FF2B5EF4-FFF2-40B4-BE49-F238E27FC236}">
                <a16:creationId xmlns:a16="http://schemas.microsoft.com/office/drawing/2014/main" id="{A825CB31-7673-45CD-AAB1-B3C2D54FC4ED}"/>
              </a:ext>
            </a:extLst>
          </p:cNvPr>
          <p:cNvSpPr>
            <a:spLocks xmlns:a="http://schemas.openxmlformats.org/drawingml/2006/main" noGrp="1"/>
          </p:cNvSpPr>
          <p:nvPr/>
        </p:nvSpPr>
        <p:spPr>
          <a:xfrm xmlns:a="http://schemas.openxmlformats.org/drawingml/2006/main">
            <a:off x="10153650" y="3152775"/>
            <a:ext cx="16668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Top 10 + metric</a:t>
            </a:r>
          </a:p>
          <a:p xmlns:a="http://schemas.openxmlformats.org/drawingml/2006/main">
            <a:pPr algn="l">
              <a:defRPr sz="1800" b="0">
                <a:solidFill>
                  <a:srgbClr val="FFFFFF"/>
                </a:solidFill>
                <a:latin typeface="Arial"/>
                <a:ea typeface="Arial"/>
                <a:cs typeface="Arial"/>
              </a:defRPr>
            </a:pPr>
            <a:r>
              <a:rPr sz="1800" b="0">
                <a:solidFill>
                  <a:srgbClr val="FFFFFF"/>
                </a:solidFill>
                <a:latin typeface="Arial"/>
                <a:ea typeface="Arial"/>
                <a:cs typeface="Arial"/>
              </a:rPr>
              <a:t>Dashboard + API</a:t>
            </a:r>
          </a:p>
        </p:txBody>
      </p:sp>
      <p:sp>
        <p:nvSpPr>
          <p:cNvPr id="30" name="">
            <a:extLst xmlns:a="http://schemas.openxmlformats.org/drawingml/2006/main">
              <a:ext uri="{FF2B5EF4-FFF2-40B4-BE49-F238E27FC236}">
                <a16:creationId xmlns:a16="http://schemas.microsoft.com/office/drawing/2014/main" id="{257F46D6-442F-44D8-A58A-B6E83CAADE57}"/>
              </a:ext>
            </a:extLst>
          </p:cNvPr>
          <p:cNvSpPr>
            <a:spLocks xmlns:a="http://schemas.openxmlformats.org/drawingml/2006/main" noGrp="1"/>
          </p:cNvSpPr>
          <p:nvPr/>
        </p:nvSpPr>
        <p:spPr>
          <a:xfrm xmlns:a="http://schemas.openxmlformats.org/drawingml/2006/main">
            <a:off x="619125" y="5286375"/>
            <a:ext cx="7620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0">
                <a:solidFill>
                  <a:srgbClr val="526176"/>
                </a:solidFill>
                <a:latin typeface="Arial"/>
                <a:ea typeface="Arial"/>
                <a:cs typeface="Arial"/>
              </a:defRPr>
            </a:pPr>
            <a:r>
              <a:rPr sz="1650" b="0">
                <a:solidFill>
                  <a:srgbClr val="526176"/>
                </a:solidFill>
                <a:latin typeface="Arial"/>
                <a:ea typeface="Arial"/>
                <a:cs typeface="Arial"/>
              </a:rPr>
              <a:t>Lưu trữ và xử lý full: HDFS / Spark</a:t>
            </a:r>
          </a:p>
        </p:txBody>
      </p:sp>
    </p:spTree>
    <p:extLst>
      <p:ext uri="{BB962C8B-B14F-4D97-AF65-F5344CB8AC3E}">
        <p14:creationId xmlns:p14="http://schemas.microsoft.com/office/powerpoint/2010/main" val="1989262378"/>
      </p:ext>
    </p:extLst>
  </p:cSld>
</p:sld>
</file>

<file path=ppt/slides/slide4.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6133B4-17B2-4344-9949-F31C98E8320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00D265-7916-44B5-B939-FD695A3DEF4A}"/>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Nguồn dữ liệu dùng để thử nghiệm</a:t>
            </a:r>
          </a:p>
        </p:txBody>
      </p:sp>
      <p:sp>
        <p:nvSpPr>
          <p:cNvPr id="3" name="">
            <a:extLst xmlns:a="http://schemas.openxmlformats.org/drawingml/2006/main">
              <a:ext uri="{FF2B5EF4-FFF2-40B4-BE49-F238E27FC236}">
                <a16:creationId xmlns:a16="http://schemas.microsoft.com/office/drawing/2014/main" id="{F88668FE-9CCE-4767-8273-F0BF740DD8DC}"/>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MovieLens 25M cung cấp lịch sử chấm điểm và thông tin phim.</a:t>
            </a:r>
          </a:p>
        </p:txBody>
      </p:sp>
      <p:sp>
        <p:nvSpPr>
          <p:cNvPr id="4" name="">
            <a:extLst xmlns:a="http://schemas.openxmlformats.org/drawingml/2006/main">
              <a:ext uri="{FF2B5EF4-FFF2-40B4-BE49-F238E27FC236}">
                <a16:creationId xmlns:a16="http://schemas.microsoft.com/office/drawing/2014/main" id="{CF841BE7-A07D-4541-85CC-75E52C42CB55}"/>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25A50490-BCDC-4306-B813-1807214CC7E0}"/>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04</a:t>
            </a:r>
          </a:p>
        </p:txBody>
      </p:sp>
      <p:sp>
        <p:nvSpPr>
          <p:cNvPr id="6" name="">
            <a:extLst xmlns:a="http://schemas.openxmlformats.org/drawingml/2006/main">
              <a:ext uri="{FF2B5EF4-FFF2-40B4-BE49-F238E27FC236}">
                <a16:creationId xmlns:a16="http://schemas.microsoft.com/office/drawing/2014/main" id="{4FFDAA91-6CFB-4FD7-868C-905D74F139FA}"/>
              </a:ext>
            </a:extLst>
          </p:cNvPr>
          <p:cNvSpPr>
            <a:spLocks xmlns:a="http://schemas.openxmlformats.org/drawingml/2006/main" noGrp="1"/>
          </p:cNvSpPr>
          <p:nvPr/>
        </p:nvSpPr>
        <p:spPr>
          <a:xfrm xmlns:a="http://schemas.openxmlformats.org/drawingml/2006/main">
            <a:off x="857250" y="2095500"/>
            <a:ext cx="4381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075" b="1">
                <a:solidFill>
                  <a:srgbClr val="0D1B2A"/>
                </a:solidFill>
                <a:latin typeface="Arial"/>
                <a:ea typeface="Arial"/>
                <a:cs typeface="Arial"/>
              </a:defRPr>
            </a:pPr>
            <a:r>
              <a:rPr sz="3075" b="1">
                <a:solidFill>
                  <a:srgbClr val="0D1B2A"/>
                </a:solidFill>
                <a:latin typeface="Arial"/>
                <a:ea typeface="Arial"/>
                <a:cs typeface="Arial"/>
              </a:rPr>
              <a:t>ratings.csv</a:t>
            </a:r>
          </a:p>
        </p:txBody>
      </p:sp>
      <p:sp>
        <p:nvSpPr>
          <p:cNvPr id="7" name="">
            <a:extLst xmlns:a="http://schemas.openxmlformats.org/drawingml/2006/main">
              <a:ext uri="{FF2B5EF4-FFF2-40B4-BE49-F238E27FC236}">
                <a16:creationId xmlns:a16="http://schemas.microsoft.com/office/drawing/2014/main" id="{645C6ED7-CC98-4320-907C-75D910E1908B}"/>
              </a:ext>
            </a:extLst>
          </p:cNvPr>
          <p:cNvSpPr>
            <a:spLocks xmlns:a="http://schemas.openxmlformats.org/drawingml/2006/main" noGrp="1"/>
          </p:cNvSpPr>
          <p:nvPr/>
        </p:nvSpPr>
        <p:spPr>
          <a:xfrm xmlns:a="http://schemas.openxmlformats.org/drawingml/2006/main">
            <a:off x="866775" y="2819400"/>
            <a:ext cx="442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526176"/>
                </a:solidFill>
                <a:latin typeface="Arial"/>
                <a:ea typeface="Arial"/>
                <a:cs typeface="Arial"/>
              </a:defRPr>
            </a:pPr>
            <a:r>
              <a:rPr sz="1800" b="0">
                <a:solidFill>
                  <a:srgbClr val="526176"/>
                </a:solidFill>
                <a:latin typeface="Arial"/>
                <a:ea typeface="Arial"/>
                <a:cs typeface="Arial"/>
              </a:rPr>
              <a:t>userId   movieId   rating   timestamp</a:t>
            </a:r>
          </a:p>
        </p:txBody>
      </p:sp>
      <p:sp>
        <p:nvSpPr>
          <p:cNvPr id="8" name="">
            <a:extLst xmlns:a="http://schemas.openxmlformats.org/drawingml/2006/main">
              <a:ext uri="{FF2B5EF4-FFF2-40B4-BE49-F238E27FC236}">
                <a16:creationId xmlns:a16="http://schemas.microsoft.com/office/drawing/2014/main" id="{412CB8A1-CD03-466A-9784-EC36B6CC8312}"/>
              </a:ext>
            </a:extLst>
          </p:cNvPr>
          <p:cNvSpPr>
            <a:spLocks xmlns:a="http://schemas.openxmlformats.org/drawingml/2006/main" noGrp="1"/>
          </p:cNvSpPr>
          <p:nvPr/>
        </p:nvSpPr>
        <p:spPr>
          <a:xfrm xmlns:a="http://schemas.openxmlformats.org/drawingml/2006/main">
            <a:off x="5829300" y="1905000"/>
            <a:ext cx="0" cy="3067050"/>
          </a:xfrm>
          <a:prstGeom xmlns:a="http://schemas.openxmlformats.org/drawingml/2006/main" prst="line">
            <a:avLst/>
          </a:prstGeom>
          <a:noFill xmlns:a="http://schemas.openxmlformats.org/drawingml/2006/main"/>
          <a:ln xmlns:a="http://schemas.openxmlformats.org/drawingml/2006/main" w="28575">
            <a:solidFill>
              <a:srgbClr val="E8EDF3"/>
            </a:solidFill>
          </a:ln>
        </p:spPr>
      </p:sp>
      <p:sp>
        <p:nvSpPr>
          <p:cNvPr id="9" name="">
            <a:extLst xmlns:a="http://schemas.openxmlformats.org/drawingml/2006/main">
              <a:ext uri="{FF2B5EF4-FFF2-40B4-BE49-F238E27FC236}">
                <a16:creationId xmlns:a16="http://schemas.microsoft.com/office/drawing/2014/main" id="{78785FF2-4E0D-4B11-B779-24222BE5CB3A}"/>
              </a:ext>
            </a:extLst>
          </p:cNvPr>
          <p:cNvSpPr>
            <a:spLocks xmlns:a="http://schemas.openxmlformats.org/drawingml/2006/main" noGrp="1"/>
          </p:cNvSpPr>
          <p:nvPr/>
        </p:nvSpPr>
        <p:spPr>
          <a:xfrm xmlns:a="http://schemas.openxmlformats.org/drawingml/2006/main">
            <a:off x="6543675" y="2095500"/>
            <a:ext cx="4381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075" b="1">
                <a:solidFill>
                  <a:srgbClr val="0D1B2A"/>
                </a:solidFill>
                <a:latin typeface="Arial"/>
                <a:ea typeface="Arial"/>
                <a:cs typeface="Arial"/>
              </a:defRPr>
            </a:pPr>
            <a:r>
              <a:rPr sz="3075" b="1">
                <a:solidFill>
                  <a:srgbClr val="0D1B2A"/>
                </a:solidFill>
                <a:latin typeface="Arial"/>
                <a:ea typeface="Arial"/>
                <a:cs typeface="Arial"/>
              </a:rPr>
              <a:t>movies.csv</a:t>
            </a:r>
          </a:p>
        </p:txBody>
      </p:sp>
      <p:sp>
        <p:nvSpPr>
          <p:cNvPr id="10" name="">
            <a:extLst xmlns:a="http://schemas.openxmlformats.org/drawingml/2006/main">
              <a:ext uri="{FF2B5EF4-FFF2-40B4-BE49-F238E27FC236}">
                <a16:creationId xmlns:a16="http://schemas.microsoft.com/office/drawing/2014/main" id="{31E789B2-711E-49C9-A993-62DB4B2550B3}"/>
              </a:ext>
            </a:extLst>
          </p:cNvPr>
          <p:cNvSpPr>
            <a:spLocks xmlns:a="http://schemas.openxmlformats.org/drawingml/2006/main" noGrp="1"/>
          </p:cNvSpPr>
          <p:nvPr/>
        </p:nvSpPr>
        <p:spPr>
          <a:xfrm xmlns:a="http://schemas.openxmlformats.org/drawingml/2006/main">
            <a:off x="6562725" y="2819400"/>
            <a:ext cx="4429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00" b="0">
                <a:solidFill>
                  <a:srgbClr val="526176"/>
                </a:solidFill>
                <a:latin typeface="Arial"/>
                <a:ea typeface="Arial"/>
                <a:cs typeface="Arial"/>
              </a:defRPr>
            </a:pPr>
            <a:r>
              <a:rPr sz="1800" b="0">
                <a:solidFill>
                  <a:srgbClr val="526176"/>
                </a:solidFill>
                <a:latin typeface="Arial"/>
                <a:ea typeface="Arial"/>
                <a:cs typeface="Arial"/>
              </a:rPr>
              <a:t>movieId   title   genres</a:t>
            </a:r>
          </a:p>
        </p:txBody>
      </p:sp>
      <p:sp>
        <p:nvSpPr>
          <p:cNvPr id="11" name="">
            <a:extLst xmlns:a="http://schemas.openxmlformats.org/drawingml/2006/main">
              <a:ext uri="{FF2B5EF4-FFF2-40B4-BE49-F238E27FC236}">
                <a16:creationId xmlns:a16="http://schemas.microsoft.com/office/drawing/2014/main" id="{E7EC7659-5122-40C1-8D4E-C6DBB053C5ED}"/>
              </a:ext>
            </a:extLst>
          </p:cNvPr>
          <p:cNvSpPr>
            <a:spLocks xmlns:a="http://schemas.openxmlformats.org/drawingml/2006/main" noGrp="1"/>
          </p:cNvSpPr>
          <p:nvPr/>
        </p:nvSpPr>
        <p:spPr>
          <a:xfrm xmlns:a="http://schemas.openxmlformats.org/drawingml/2006/main">
            <a:off x="838200" y="4572000"/>
            <a:ext cx="10477500" cy="904875"/>
          </a:xfrm>
          <a:prstGeom xmlns:a="http://schemas.openxmlformats.org/drawingml/2006/main" prst="roundRect">
            <a:avLst>
              <a:gd name="adj" fmla="val 8421"/>
            </a:avLst>
          </a:prstGeom>
          <a:solidFill xmlns:a="http://schemas.openxmlformats.org/drawingml/2006/main">
            <a:srgbClr val="FBE9EA"/>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427142D-2E16-492A-9621-C5456422740F}"/>
              </a:ext>
            </a:extLst>
          </p:cNvPr>
          <p:cNvSpPr>
            <a:spLocks xmlns:a="http://schemas.openxmlformats.org/drawingml/2006/main" noGrp="1"/>
          </p:cNvSpPr>
          <p:nvPr/>
        </p:nvSpPr>
        <p:spPr>
          <a:xfrm xmlns:a="http://schemas.openxmlformats.org/drawingml/2006/main">
            <a:off x="1066800" y="4791075"/>
            <a:ext cx="10048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D81F26"/>
                </a:solidFill>
                <a:latin typeface="Arial"/>
                <a:ea typeface="Arial"/>
                <a:cs typeface="Arial"/>
              </a:defRPr>
            </a:pPr>
            <a:r>
              <a:rPr sz="1875" b="1">
                <a:solidFill>
                  <a:srgbClr val="D81F26"/>
                </a:solidFill>
                <a:latin typeface="Arial"/>
                <a:ea typeface="Arial"/>
                <a:cs typeface="Arial"/>
              </a:rPr>
              <a:t>MovieLens không có thuê bao, thời lượng xem hay mức hài lòng thật của thành viên Netflix.</a:t>
            </a:r>
          </a:p>
        </p:txBody>
      </p:sp>
    </p:spTree>
    <p:extLst>
      <p:ext uri="{BB962C8B-B14F-4D97-AF65-F5344CB8AC3E}">
        <p14:creationId xmlns:p14="http://schemas.microsoft.com/office/powerpoint/2010/main" val="1694354844"/>
      </p:ext>
    </p:extLst>
  </p:cSld>
</p:sld>
</file>

<file path=ppt/slides/slide5.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59FEA3A-001E-4E3D-9951-A1709A7266F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0A4C877-5C8C-4AD6-B8EB-FA295B0456EC}"/>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Chọn người dùng và chia lịch sử</a:t>
            </a:r>
          </a:p>
        </p:txBody>
      </p:sp>
      <p:sp>
        <p:nvSpPr>
          <p:cNvPr id="3" name="">
            <a:extLst xmlns:a="http://schemas.openxmlformats.org/drawingml/2006/main">
              <a:ext uri="{FF2B5EF4-FFF2-40B4-BE49-F238E27FC236}">
                <a16:creationId xmlns:a16="http://schemas.microsoft.com/office/drawing/2014/main" id="{D9A8609C-2EE2-4AB2-B094-6109B66CA5A8}"/>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Các lượt chấm về sau không được đưa vào bước huấn luyện.</a:t>
            </a:r>
          </a:p>
        </p:txBody>
      </p:sp>
      <p:sp>
        <p:nvSpPr>
          <p:cNvPr id="4" name="">
            <a:extLst xmlns:a="http://schemas.openxmlformats.org/drawingml/2006/main">
              <a:ext uri="{FF2B5EF4-FFF2-40B4-BE49-F238E27FC236}">
                <a16:creationId xmlns:a16="http://schemas.microsoft.com/office/drawing/2014/main" id="{17F4E8B0-FAC5-4B18-9235-5634EE0442B9}"/>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3AA4FEC6-4AB2-4649-AEF4-233F79D2C6C6}"/>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05</a:t>
            </a:r>
          </a:p>
        </p:txBody>
      </p:sp>
      <p:sp>
        <p:nvSpPr>
          <p:cNvPr id="6" name="">
            <a:extLst xmlns:a="http://schemas.openxmlformats.org/drawingml/2006/main">
              <a:ext uri="{FF2B5EF4-FFF2-40B4-BE49-F238E27FC236}">
                <a16:creationId xmlns:a16="http://schemas.microsoft.com/office/drawing/2014/main" id="{D7940EE4-126B-4E70-A8DC-023E37F6E26D}"/>
              </a:ext>
            </a:extLst>
          </p:cNvPr>
          <p:cNvSpPr>
            <a:spLocks xmlns:a="http://schemas.openxmlformats.org/drawingml/2006/main" noGrp="1"/>
          </p:cNvSpPr>
          <p:nvPr/>
        </p:nvSpPr>
        <p:spPr>
          <a:xfrm xmlns:a="http://schemas.openxmlformats.org/drawingml/2006/main">
            <a:off x="762000" y="204787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400" b="1">
                <a:solidFill>
                  <a:srgbClr val="0D1B2A"/>
                </a:solidFill>
                <a:latin typeface="Arial"/>
                <a:ea typeface="Arial"/>
                <a:cs typeface="Arial"/>
              </a:defRPr>
            </a:pPr>
            <a:r>
              <a:rPr sz="2400" b="1">
                <a:solidFill>
                  <a:srgbClr val="0D1B2A"/>
                </a:solidFill>
                <a:latin typeface="Arial"/>
                <a:ea typeface="Arial"/>
                <a:cs typeface="Arial"/>
              </a:rPr>
              <a:t>Quy tắc bản full</a:t>
            </a:r>
          </a:p>
        </p:txBody>
      </p:sp>
      <p:sp>
        <p:nvSpPr>
          <p:cNvPr id="7" name="">
            <a:extLst xmlns:a="http://schemas.openxmlformats.org/drawingml/2006/main">
              <a:ext uri="{FF2B5EF4-FFF2-40B4-BE49-F238E27FC236}">
                <a16:creationId xmlns:a16="http://schemas.microsoft.com/office/drawing/2014/main" id="{D9B79568-2C40-4FB4-846B-10E57C78640A}"/>
              </a:ext>
            </a:extLst>
          </p:cNvPr>
          <p:cNvSpPr>
            <a:spLocks xmlns:a="http://schemas.openxmlformats.org/drawingml/2006/main" noGrp="1"/>
          </p:cNvSpPr>
          <p:nvPr/>
        </p:nvSpPr>
        <p:spPr>
          <a:xfrm xmlns:a="http://schemas.openxmlformats.org/drawingml/2006/main">
            <a:off x="762000" y="271462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400" b="1">
                <a:solidFill>
                  <a:srgbClr val="D81F26"/>
                </a:solidFill>
                <a:latin typeface="Arial"/>
                <a:ea typeface="Arial"/>
                <a:cs typeface="Arial"/>
              </a:defRPr>
            </a:pPr>
            <a:r>
              <a:rPr sz="2400" b="1">
                <a:solidFill>
                  <a:srgbClr val="D81F26"/>
                </a:solidFill>
                <a:latin typeface="Arial"/>
                <a:ea typeface="Arial"/>
                <a:cs typeface="Arial"/>
              </a:rPr>
              <a:t>Ít nhất 20 lượt chấm</a:t>
            </a:r>
          </a:p>
          <a:p xmlns:a="http://schemas.openxmlformats.org/drawingml/2006/main">
            <a:pPr algn="l">
              <a:defRPr sz="2400" b="1">
                <a:solidFill>
                  <a:srgbClr val="D81F26"/>
                </a:solidFill>
                <a:latin typeface="Arial"/>
                <a:ea typeface="Arial"/>
                <a:cs typeface="Arial"/>
              </a:defRPr>
            </a:pPr>
            <a:r>
              <a:rPr sz="2400" b="1">
                <a:solidFill>
                  <a:srgbClr val="D81F26"/>
                </a:solidFill>
                <a:latin typeface="Arial"/>
                <a:ea typeface="Arial"/>
                <a:cs typeface="Arial"/>
              </a:rPr>
              <a:t>trải trên 180 ngày</a:t>
            </a:r>
          </a:p>
        </p:txBody>
      </p:sp>
      <p:sp>
        <p:nvSpPr>
          <p:cNvPr id="8" name="">
            <a:extLst xmlns:a="http://schemas.openxmlformats.org/drawingml/2006/main">
              <a:ext uri="{FF2B5EF4-FFF2-40B4-BE49-F238E27FC236}">
                <a16:creationId xmlns:a16="http://schemas.microsoft.com/office/drawing/2014/main" id="{4248E992-5B86-4E76-BE01-9AD5AA437054}"/>
              </a:ext>
            </a:extLst>
          </p:cNvPr>
          <p:cNvSpPr>
            <a:spLocks xmlns:a="http://schemas.openxmlformats.org/drawingml/2006/main" noGrp="1"/>
          </p:cNvSpPr>
          <p:nvPr/>
        </p:nvSpPr>
        <p:spPr>
          <a:xfrm xmlns:a="http://schemas.openxmlformats.org/drawingml/2006/main">
            <a:off x="762000" y="4048125"/>
            <a:ext cx="438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0">
                <a:solidFill>
                  <a:srgbClr val="526176"/>
                </a:solidFill>
                <a:latin typeface="Arial"/>
                <a:ea typeface="Arial"/>
                <a:cs typeface="Arial"/>
              </a:defRPr>
            </a:pPr>
            <a:r>
              <a:rPr sz="1725" b="0">
                <a:solidFill>
                  <a:srgbClr val="526176"/>
                </a:solidFill>
                <a:latin typeface="Arial"/>
                <a:ea typeface="Arial"/>
                <a:cs typeface="Arial"/>
              </a:rPr>
              <a:t>Dữ liệu smoke: 5 lượt chấm / 30 ngày</a:t>
            </a:r>
          </a:p>
        </p:txBody>
      </p:sp>
      <p:sp>
        <p:nvSpPr>
          <p:cNvPr id="9" name="">
            <a:extLst xmlns:a="http://schemas.openxmlformats.org/drawingml/2006/main">
              <a:ext uri="{FF2B5EF4-FFF2-40B4-BE49-F238E27FC236}">
                <a16:creationId xmlns:a16="http://schemas.microsoft.com/office/drawing/2014/main" id="{2C064C42-97AD-4A0D-80ED-E4F471BDA6AC}"/>
              </a:ext>
            </a:extLst>
          </p:cNvPr>
          <p:cNvSpPr>
            <a:spLocks xmlns:a="http://schemas.openxmlformats.org/drawingml/2006/main" noGrp="1"/>
          </p:cNvSpPr>
          <p:nvPr/>
        </p:nvSpPr>
        <p:spPr>
          <a:xfrm xmlns:a="http://schemas.openxmlformats.org/drawingml/2006/main">
            <a:off x="5981700" y="19240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Thời gian</a:t>
            </a:r>
          </a:p>
        </p:txBody>
      </p:sp>
      <p:sp>
        <p:nvSpPr>
          <p:cNvPr id="10" name="">
            <a:extLst xmlns:a="http://schemas.openxmlformats.org/drawingml/2006/main">
              <a:ext uri="{FF2B5EF4-FFF2-40B4-BE49-F238E27FC236}">
                <a16:creationId xmlns:a16="http://schemas.microsoft.com/office/drawing/2014/main" id="{3A938716-7504-4CB8-B6E2-57AE03440AD2}"/>
              </a:ext>
            </a:extLst>
          </p:cNvPr>
          <p:cNvSpPr>
            <a:spLocks xmlns:a="http://schemas.openxmlformats.org/drawingml/2006/main" noGrp="1"/>
          </p:cNvSpPr>
          <p:nvPr/>
        </p:nvSpPr>
        <p:spPr>
          <a:xfrm xmlns:a="http://schemas.openxmlformats.org/drawingml/2006/main">
            <a:off x="6010275" y="2724150"/>
            <a:ext cx="2867025" cy="800100"/>
          </a:xfrm>
          <a:prstGeom xmlns:a="http://schemas.openxmlformats.org/drawingml/2006/main" prst="rect">
            <a:avLst/>
          </a:prstGeom>
          <a:solidFill xmlns:a="http://schemas.openxmlformats.org/drawingml/2006/main">
            <a:srgbClr val="E8F1F7"/>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214081F-4F73-4BBB-9544-40B18E978D08}"/>
              </a:ext>
            </a:extLst>
          </p:cNvPr>
          <p:cNvSpPr>
            <a:spLocks xmlns:a="http://schemas.openxmlformats.org/drawingml/2006/main" noGrp="1"/>
          </p:cNvSpPr>
          <p:nvPr/>
        </p:nvSpPr>
        <p:spPr>
          <a:xfrm xmlns:a="http://schemas.openxmlformats.org/drawingml/2006/main">
            <a:off x="6191250" y="2886075"/>
            <a:ext cx="25241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950" b="1">
                <a:solidFill>
                  <a:srgbClr val="0D1B2A"/>
                </a:solidFill>
                <a:latin typeface="Arial"/>
                <a:ea typeface="Arial"/>
                <a:cs typeface="Arial"/>
              </a:defRPr>
            </a:pPr>
            <a:r>
              <a:rPr sz="1950" b="1">
                <a:solidFill>
                  <a:srgbClr val="0D1B2A"/>
                </a:solidFill>
                <a:latin typeface="Arial"/>
                <a:ea typeface="Arial"/>
                <a:cs typeface="Arial"/>
              </a:rPr>
              <a:t>TRAIN</a:t>
            </a:r>
          </a:p>
        </p:txBody>
      </p:sp>
      <p:sp>
        <p:nvSpPr>
          <p:cNvPr id="12" name="">
            <a:extLst xmlns:a="http://schemas.openxmlformats.org/drawingml/2006/main">
              <a:ext uri="{FF2B5EF4-FFF2-40B4-BE49-F238E27FC236}">
                <a16:creationId xmlns:a16="http://schemas.microsoft.com/office/drawing/2014/main" id="{F28CBF6C-D146-4789-AF3A-1AC92CF59C3A}"/>
              </a:ext>
            </a:extLst>
          </p:cNvPr>
          <p:cNvSpPr>
            <a:spLocks xmlns:a="http://schemas.openxmlformats.org/drawingml/2006/main" noGrp="1"/>
          </p:cNvSpPr>
          <p:nvPr/>
        </p:nvSpPr>
        <p:spPr>
          <a:xfrm xmlns:a="http://schemas.openxmlformats.org/drawingml/2006/main">
            <a:off x="8877300" y="2724150"/>
            <a:ext cx="1171575" cy="800100"/>
          </a:xfrm>
          <a:prstGeom xmlns:a="http://schemas.openxmlformats.org/drawingml/2006/main" prst="rect">
            <a:avLst/>
          </a:prstGeom>
          <a:solidFill xmlns:a="http://schemas.openxmlformats.org/drawingml/2006/main">
            <a:srgbClr val="DBE9E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7F81834-DF9E-40DA-B0E6-B3F70B5C9532}"/>
              </a:ext>
            </a:extLst>
          </p:cNvPr>
          <p:cNvSpPr>
            <a:spLocks xmlns:a="http://schemas.openxmlformats.org/drawingml/2006/main" noGrp="1"/>
          </p:cNvSpPr>
          <p:nvPr/>
        </p:nvSpPr>
        <p:spPr>
          <a:xfrm xmlns:a="http://schemas.openxmlformats.org/drawingml/2006/main">
            <a:off x="8915400" y="2886075"/>
            <a:ext cx="1095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875" b="1">
                <a:solidFill>
                  <a:srgbClr val="0D1B2A"/>
                </a:solidFill>
                <a:latin typeface="Arial"/>
                <a:ea typeface="Arial"/>
                <a:cs typeface="Arial"/>
              </a:defRPr>
            </a:pPr>
            <a:r>
              <a:rPr sz="1875" b="1">
                <a:solidFill>
                  <a:srgbClr val="0D1B2A"/>
                </a:solidFill>
                <a:latin typeface="Arial"/>
                <a:ea typeface="Arial"/>
                <a:cs typeface="Arial"/>
              </a:rPr>
              <a:t>VAL</a:t>
            </a:r>
          </a:p>
        </p:txBody>
      </p:sp>
      <p:sp>
        <p:nvSpPr>
          <p:cNvPr id="14" name="">
            <a:extLst xmlns:a="http://schemas.openxmlformats.org/drawingml/2006/main">
              <a:ext uri="{FF2B5EF4-FFF2-40B4-BE49-F238E27FC236}">
                <a16:creationId xmlns:a16="http://schemas.microsoft.com/office/drawing/2014/main" id="{D5C971B3-187E-4369-B377-72150CD83024}"/>
              </a:ext>
            </a:extLst>
          </p:cNvPr>
          <p:cNvSpPr>
            <a:spLocks xmlns:a="http://schemas.openxmlformats.org/drawingml/2006/main" noGrp="1"/>
          </p:cNvSpPr>
          <p:nvPr/>
        </p:nvSpPr>
        <p:spPr>
          <a:xfrm xmlns:a="http://schemas.openxmlformats.org/drawingml/2006/main">
            <a:off x="10048875" y="2724150"/>
            <a:ext cx="1181100" cy="800100"/>
          </a:xfrm>
          <a:prstGeom xmlns:a="http://schemas.openxmlformats.org/drawingml/2006/main" prst="rect">
            <a:avLst/>
          </a:prstGeom>
          <a:solidFill xmlns:a="http://schemas.openxmlformats.org/drawingml/2006/main">
            <a:srgbClr val="FBE9EA"/>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E5C72A6-CFA9-4467-B378-6F1400388BFF}"/>
              </a:ext>
            </a:extLst>
          </p:cNvPr>
          <p:cNvSpPr>
            <a:spLocks xmlns:a="http://schemas.openxmlformats.org/drawingml/2006/main" noGrp="1"/>
          </p:cNvSpPr>
          <p:nvPr/>
        </p:nvSpPr>
        <p:spPr>
          <a:xfrm xmlns:a="http://schemas.openxmlformats.org/drawingml/2006/main">
            <a:off x="10096500" y="2886075"/>
            <a:ext cx="1104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875" b="1">
                <a:solidFill>
                  <a:srgbClr val="D81F26"/>
                </a:solidFill>
                <a:latin typeface="Arial"/>
                <a:ea typeface="Arial"/>
                <a:cs typeface="Arial"/>
              </a:defRPr>
            </a:pPr>
            <a:r>
              <a:rPr sz="1875" b="1">
                <a:solidFill>
                  <a:srgbClr val="D81F26"/>
                </a:solidFill>
                <a:latin typeface="Arial"/>
                <a:ea typeface="Arial"/>
                <a:cs typeface="Arial"/>
              </a:rPr>
              <a:t>TEST</a:t>
            </a:r>
          </a:p>
        </p:txBody>
      </p:sp>
      <p:sp>
        <p:nvSpPr>
          <p:cNvPr id="16" name="">
            <a:extLst xmlns:a="http://schemas.openxmlformats.org/drawingml/2006/main">
              <a:ext uri="{FF2B5EF4-FFF2-40B4-BE49-F238E27FC236}">
                <a16:creationId xmlns:a16="http://schemas.microsoft.com/office/drawing/2014/main" id="{4FF6E925-B6F8-47D9-9B02-68E67D16151F}"/>
              </a:ext>
            </a:extLst>
          </p:cNvPr>
          <p:cNvSpPr>
            <a:spLocks xmlns:a="http://schemas.openxmlformats.org/drawingml/2006/main" noGrp="1"/>
          </p:cNvSpPr>
          <p:nvPr/>
        </p:nvSpPr>
        <p:spPr>
          <a:xfrm xmlns:a="http://schemas.openxmlformats.org/drawingml/2006/main">
            <a:off x="6010275" y="3762375"/>
            <a:ext cx="5219700" cy="0"/>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17" name="">
            <a:extLst xmlns:a="http://schemas.openxmlformats.org/drawingml/2006/main">
              <a:ext uri="{FF2B5EF4-FFF2-40B4-BE49-F238E27FC236}">
                <a16:creationId xmlns:a16="http://schemas.microsoft.com/office/drawing/2014/main" id="{55C1A518-960D-4446-8100-0AE3E9CD2E03}"/>
              </a:ext>
            </a:extLst>
          </p:cNvPr>
          <p:cNvSpPr>
            <a:spLocks xmlns:a="http://schemas.openxmlformats.org/drawingml/2006/main" noGrp="1"/>
          </p:cNvSpPr>
          <p:nvPr/>
        </p:nvSpPr>
        <p:spPr>
          <a:xfrm xmlns:a="http://schemas.openxmlformats.org/drawingml/2006/main">
            <a:off x="6000750" y="3962400"/>
            <a:ext cx="185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Cũ hơn</a:t>
            </a:r>
          </a:p>
        </p:txBody>
      </p:sp>
      <p:sp>
        <p:nvSpPr>
          <p:cNvPr id="18" name="">
            <a:extLst xmlns:a="http://schemas.openxmlformats.org/drawingml/2006/main">
              <a:ext uri="{FF2B5EF4-FFF2-40B4-BE49-F238E27FC236}">
                <a16:creationId xmlns:a16="http://schemas.microsoft.com/office/drawing/2014/main" id="{3DD0BBBB-2232-4AC7-A031-950274E34B69}"/>
              </a:ext>
            </a:extLst>
          </p:cNvPr>
          <p:cNvSpPr>
            <a:spLocks xmlns:a="http://schemas.openxmlformats.org/drawingml/2006/main" noGrp="1"/>
          </p:cNvSpPr>
          <p:nvPr/>
        </p:nvSpPr>
        <p:spPr>
          <a:xfrm xmlns:a="http://schemas.openxmlformats.org/drawingml/2006/main">
            <a:off x="9858375" y="3962400"/>
            <a:ext cx="142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1">
                <a:solidFill>
                  <a:srgbClr val="526176"/>
                </a:solidFill>
                <a:latin typeface="Arial"/>
                <a:ea typeface="Arial"/>
                <a:cs typeface="Arial"/>
              </a:defRPr>
            </a:pPr>
            <a:r>
              <a:rPr sz="1500" b="1">
                <a:solidFill>
                  <a:srgbClr val="526176"/>
                </a:solidFill>
                <a:latin typeface="Arial"/>
                <a:ea typeface="Arial"/>
                <a:cs typeface="Arial"/>
              </a:rPr>
              <a:t>Mới hơn</a:t>
            </a:r>
          </a:p>
        </p:txBody>
      </p:sp>
      <p:sp>
        <p:nvSpPr>
          <p:cNvPr id="19" name="">
            <a:extLst xmlns:a="http://schemas.openxmlformats.org/drawingml/2006/main">
              <a:ext uri="{FF2B5EF4-FFF2-40B4-BE49-F238E27FC236}">
                <a16:creationId xmlns:a16="http://schemas.microsoft.com/office/drawing/2014/main" id="{8B70B8F6-D26F-4520-A770-154AD51D21F9}"/>
              </a:ext>
            </a:extLst>
          </p:cNvPr>
          <p:cNvSpPr>
            <a:spLocks xmlns:a="http://schemas.openxmlformats.org/drawingml/2006/main" noGrp="1"/>
          </p:cNvSpPr>
          <p:nvPr/>
        </p:nvSpPr>
        <p:spPr>
          <a:xfrm xmlns:a="http://schemas.openxmlformats.org/drawingml/2006/main">
            <a:off x="6019800" y="4876800"/>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17243B"/>
                </a:solidFill>
                <a:latin typeface="Arial"/>
                <a:ea typeface="Arial"/>
                <a:cs typeface="Arial"/>
              </a:defRPr>
            </a:pPr>
            <a:r>
              <a:rPr sz="1875" b="1">
                <a:solidFill>
                  <a:srgbClr val="17243B"/>
                </a:solidFill>
                <a:latin typeface="Arial"/>
                <a:ea typeface="Arial"/>
                <a:cs typeface="Arial"/>
              </a:rPr>
              <a:t>Đặc trưng được tính từ TRAIN.</a:t>
            </a:r>
          </a:p>
        </p:txBody>
      </p:sp>
    </p:spTree>
    <p:extLst>
      <p:ext uri="{BB962C8B-B14F-4D97-AF65-F5344CB8AC3E}">
        <p14:creationId xmlns:p14="http://schemas.microsoft.com/office/powerpoint/2010/main" val="473277724"/>
      </p:ext>
    </p:extLst>
  </p:cSld>
</p:sld>
</file>

<file path=ppt/slides/slide6.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785B3124-FF73-409B-9EC9-8FB4BE1ED51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C6E596-F320-4CB3-92EF-47D956EF3A62}"/>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Dữ liệu đi qua bốn tầng</a:t>
            </a:r>
          </a:p>
        </p:txBody>
      </p:sp>
      <p:sp>
        <p:nvSpPr>
          <p:cNvPr id="3" name="">
            <a:extLst xmlns:a="http://schemas.openxmlformats.org/drawingml/2006/main">
              <a:ext uri="{FF2B5EF4-FFF2-40B4-BE49-F238E27FC236}">
                <a16:creationId xmlns:a16="http://schemas.microsoft.com/office/drawing/2014/main" id="{073C008E-FDD2-4E7C-92F5-ED7E85845FE4}"/>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Mỗi tầng có một việc rõ ràng trong pipeline full.</a:t>
            </a:r>
          </a:p>
        </p:txBody>
      </p:sp>
      <p:sp>
        <p:nvSpPr>
          <p:cNvPr id="4" name="">
            <a:extLst xmlns:a="http://schemas.openxmlformats.org/drawingml/2006/main">
              <a:ext uri="{FF2B5EF4-FFF2-40B4-BE49-F238E27FC236}">
                <a16:creationId xmlns:a16="http://schemas.microsoft.com/office/drawing/2014/main" id="{06F0CEBC-049C-44CE-931A-E6317BEA4DF6}"/>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D25708BA-C712-4C57-9842-8FD54C79EB37}"/>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06</a:t>
            </a:r>
          </a:p>
        </p:txBody>
      </p:sp>
      <p:sp>
        <p:nvSpPr>
          <p:cNvPr id="6" name="">
            <a:extLst xmlns:a="http://schemas.openxmlformats.org/drawingml/2006/main">
              <a:ext uri="{FF2B5EF4-FFF2-40B4-BE49-F238E27FC236}">
                <a16:creationId xmlns:a16="http://schemas.microsoft.com/office/drawing/2014/main" id="{31967B6F-C888-4D8F-8C10-2B3A4CB70988}"/>
              </a:ext>
            </a:extLst>
          </p:cNvPr>
          <p:cNvSpPr>
            <a:spLocks xmlns:a="http://schemas.openxmlformats.org/drawingml/2006/main" noGrp="1"/>
          </p:cNvSpPr>
          <p:nvPr/>
        </p:nvSpPr>
        <p:spPr>
          <a:xfrm xmlns:a="http://schemas.openxmlformats.org/drawingml/2006/main">
            <a:off x="762000" y="2381250"/>
            <a:ext cx="2400300"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CBD6DF"/>
            </a:solidFill>
          </a:ln>
        </p:spPr>
      </p:sp>
      <p:sp>
        <p:nvSpPr>
          <p:cNvPr id="7" name="">
            <a:extLst xmlns:a="http://schemas.openxmlformats.org/drawingml/2006/main">
              <a:ext uri="{FF2B5EF4-FFF2-40B4-BE49-F238E27FC236}">
                <a16:creationId xmlns:a16="http://schemas.microsoft.com/office/drawing/2014/main" id="{F3EEFC82-252C-4594-960C-32463AD80900}"/>
              </a:ext>
            </a:extLst>
          </p:cNvPr>
          <p:cNvSpPr>
            <a:spLocks xmlns:a="http://schemas.openxmlformats.org/drawingml/2006/main" noGrp="1"/>
          </p:cNvSpPr>
          <p:nvPr/>
        </p:nvSpPr>
        <p:spPr>
          <a:xfrm xmlns:a="http://schemas.openxmlformats.org/drawingml/2006/main">
            <a:off x="962025" y="2667000"/>
            <a:ext cx="2000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75" b="1">
                <a:solidFill>
                  <a:srgbClr val="D81F26"/>
                </a:solidFill>
                <a:latin typeface="Arial"/>
                <a:ea typeface="Arial"/>
                <a:cs typeface="Arial"/>
              </a:defRPr>
            </a:pPr>
            <a:r>
              <a:rPr sz="2775" b="1">
                <a:solidFill>
                  <a:srgbClr val="D81F26"/>
                </a:solidFill>
                <a:latin typeface="Arial"/>
                <a:ea typeface="Arial"/>
                <a:cs typeface="Arial"/>
              </a:rPr>
              <a:t>RAW</a:t>
            </a:r>
          </a:p>
        </p:txBody>
      </p:sp>
      <p:sp>
        <p:nvSpPr>
          <p:cNvPr id="8" name="">
            <a:extLst xmlns:a="http://schemas.openxmlformats.org/drawingml/2006/main">
              <a:ext uri="{FF2B5EF4-FFF2-40B4-BE49-F238E27FC236}">
                <a16:creationId xmlns:a16="http://schemas.microsoft.com/office/drawing/2014/main" id="{4DE11946-DD5D-4286-AA14-B049267E71DA}"/>
              </a:ext>
            </a:extLst>
          </p:cNvPr>
          <p:cNvSpPr>
            <a:spLocks xmlns:a="http://schemas.openxmlformats.org/drawingml/2006/main" noGrp="1"/>
          </p:cNvSpPr>
          <p:nvPr/>
        </p:nvSpPr>
        <p:spPr>
          <a:xfrm xmlns:a="http://schemas.openxmlformats.org/drawingml/2006/main">
            <a:off x="952500" y="3257550"/>
            <a:ext cx="201930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9" name="">
            <a:extLst xmlns:a="http://schemas.openxmlformats.org/drawingml/2006/main">
              <a:ext uri="{FF2B5EF4-FFF2-40B4-BE49-F238E27FC236}">
                <a16:creationId xmlns:a16="http://schemas.microsoft.com/office/drawing/2014/main" id="{D61EF57D-34C7-4212-90E6-862C9CB56C1A}"/>
              </a:ext>
            </a:extLst>
          </p:cNvPr>
          <p:cNvSpPr>
            <a:spLocks xmlns:a="http://schemas.openxmlformats.org/drawingml/2006/main" noGrp="1"/>
          </p:cNvSpPr>
          <p:nvPr/>
        </p:nvSpPr>
        <p:spPr>
          <a:xfrm xmlns:a="http://schemas.openxmlformats.org/drawingml/2006/main">
            <a:off x="962025" y="3476625"/>
            <a:ext cx="200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0">
                <a:solidFill>
                  <a:srgbClr val="17243B"/>
                </a:solidFill>
                <a:latin typeface="Arial"/>
                <a:ea typeface="Arial"/>
                <a:cs typeface="Arial"/>
              </a:defRPr>
            </a:pPr>
            <a:r>
              <a:rPr sz="1650" b="0">
                <a:solidFill>
                  <a:srgbClr val="17243B"/>
                </a:solidFill>
                <a:latin typeface="Arial"/>
                <a:ea typeface="Arial"/>
                <a:cs typeface="Arial"/>
              </a:rPr>
              <a:t>Giữ tệp gốc</a:t>
            </a:r>
          </a:p>
        </p:txBody>
      </p:sp>
      <p:sp>
        <p:nvSpPr>
          <p:cNvPr id="10" name="">
            <a:extLst xmlns:a="http://schemas.openxmlformats.org/drawingml/2006/main">
              <a:ext uri="{FF2B5EF4-FFF2-40B4-BE49-F238E27FC236}">
                <a16:creationId xmlns:a16="http://schemas.microsoft.com/office/drawing/2014/main" id="{491115B2-F1A9-4B64-836C-0EB35CB2BE34}"/>
              </a:ext>
            </a:extLst>
          </p:cNvPr>
          <p:cNvSpPr>
            <a:spLocks xmlns:a="http://schemas.openxmlformats.org/drawingml/2006/main" noGrp="1"/>
          </p:cNvSpPr>
          <p:nvPr/>
        </p:nvSpPr>
        <p:spPr>
          <a:xfrm xmlns:a="http://schemas.openxmlformats.org/drawingml/2006/main">
            <a:off x="3209925" y="3267075"/>
            <a:ext cx="3524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7C8D5E4-6F15-444E-AF1D-5F420922C9F9}"/>
              </a:ext>
            </a:extLst>
          </p:cNvPr>
          <p:cNvSpPr>
            <a:spLocks xmlns:a="http://schemas.openxmlformats.org/drawingml/2006/main" noGrp="1"/>
          </p:cNvSpPr>
          <p:nvPr/>
        </p:nvSpPr>
        <p:spPr>
          <a:xfrm xmlns:a="http://schemas.openxmlformats.org/drawingml/2006/main">
            <a:off x="3638550" y="2381250"/>
            <a:ext cx="2400300"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CBD6DF"/>
            </a:solidFill>
          </a:ln>
        </p:spPr>
      </p:sp>
      <p:sp>
        <p:nvSpPr>
          <p:cNvPr id="12" name="">
            <a:extLst xmlns:a="http://schemas.openxmlformats.org/drawingml/2006/main">
              <a:ext uri="{FF2B5EF4-FFF2-40B4-BE49-F238E27FC236}">
                <a16:creationId xmlns:a16="http://schemas.microsoft.com/office/drawing/2014/main" id="{DC532079-84D0-4BBD-8EB5-D93AA379DDF2}"/>
              </a:ext>
            </a:extLst>
          </p:cNvPr>
          <p:cNvSpPr>
            <a:spLocks xmlns:a="http://schemas.openxmlformats.org/drawingml/2006/main" noGrp="1"/>
          </p:cNvSpPr>
          <p:nvPr/>
        </p:nvSpPr>
        <p:spPr>
          <a:xfrm xmlns:a="http://schemas.openxmlformats.org/drawingml/2006/main">
            <a:off x="3838575" y="2667000"/>
            <a:ext cx="2000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75" b="1">
                <a:solidFill>
                  <a:srgbClr val="D81F26"/>
                </a:solidFill>
                <a:latin typeface="Arial"/>
                <a:ea typeface="Arial"/>
                <a:cs typeface="Arial"/>
              </a:defRPr>
            </a:pPr>
            <a:r>
              <a:rPr sz="2775" b="1">
                <a:solidFill>
                  <a:srgbClr val="D81F26"/>
                </a:solidFill>
                <a:latin typeface="Arial"/>
                <a:ea typeface="Arial"/>
                <a:cs typeface="Arial"/>
              </a:rPr>
              <a:t>BRONZE</a:t>
            </a:r>
          </a:p>
        </p:txBody>
      </p:sp>
      <p:sp>
        <p:nvSpPr>
          <p:cNvPr id="13" name="">
            <a:extLst xmlns:a="http://schemas.openxmlformats.org/drawingml/2006/main">
              <a:ext uri="{FF2B5EF4-FFF2-40B4-BE49-F238E27FC236}">
                <a16:creationId xmlns:a16="http://schemas.microsoft.com/office/drawing/2014/main" id="{FB5796F5-382B-43F2-B8B7-4ACA3F8B6109}"/>
              </a:ext>
            </a:extLst>
          </p:cNvPr>
          <p:cNvSpPr>
            <a:spLocks xmlns:a="http://schemas.openxmlformats.org/drawingml/2006/main" noGrp="1"/>
          </p:cNvSpPr>
          <p:nvPr/>
        </p:nvSpPr>
        <p:spPr>
          <a:xfrm xmlns:a="http://schemas.openxmlformats.org/drawingml/2006/main">
            <a:off x="3829050" y="3257550"/>
            <a:ext cx="201930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14" name="">
            <a:extLst xmlns:a="http://schemas.openxmlformats.org/drawingml/2006/main">
              <a:ext uri="{FF2B5EF4-FFF2-40B4-BE49-F238E27FC236}">
                <a16:creationId xmlns:a16="http://schemas.microsoft.com/office/drawing/2014/main" id="{A04EB134-EEE9-4C80-9FD9-5451181B51AE}"/>
              </a:ext>
            </a:extLst>
          </p:cNvPr>
          <p:cNvSpPr>
            <a:spLocks xmlns:a="http://schemas.openxmlformats.org/drawingml/2006/main" noGrp="1"/>
          </p:cNvSpPr>
          <p:nvPr/>
        </p:nvSpPr>
        <p:spPr>
          <a:xfrm xmlns:a="http://schemas.openxmlformats.org/drawingml/2006/main">
            <a:off x="3838575" y="3476625"/>
            <a:ext cx="200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0">
                <a:solidFill>
                  <a:srgbClr val="17243B"/>
                </a:solidFill>
                <a:latin typeface="Arial"/>
                <a:ea typeface="Arial"/>
                <a:cs typeface="Arial"/>
              </a:defRPr>
            </a:pPr>
            <a:r>
              <a:rPr sz="1650" b="0">
                <a:solidFill>
                  <a:srgbClr val="17243B"/>
                </a:solidFill>
                <a:latin typeface="Arial"/>
                <a:ea typeface="Arial"/>
                <a:cs typeface="Arial"/>
              </a:rPr>
              <a:t>Kiểm tra kiểu và bản ghi lỗi</a:t>
            </a:r>
          </a:p>
        </p:txBody>
      </p:sp>
      <p:sp>
        <p:nvSpPr>
          <p:cNvPr id="15" name="">
            <a:extLst xmlns:a="http://schemas.openxmlformats.org/drawingml/2006/main">
              <a:ext uri="{FF2B5EF4-FFF2-40B4-BE49-F238E27FC236}">
                <a16:creationId xmlns:a16="http://schemas.microsoft.com/office/drawing/2014/main" id="{DF27390D-4CD1-40A6-89DF-7BA2E8A99418}"/>
              </a:ext>
            </a:extLst>
          </p:cNvPr>
          <p:cNvSpPr>
            <a:spLocks xmlns:a="http://schemas.openxmlformats.org/drawingml/2006/main" noGrp="1"/>
          </p:cNvSpPr>
          <p:nvPr/>
        </p:nvSpPr>
        <p:spPr>
          <a:xfrm xmlns:a="http://schemas.openxmlformats.org/drawingml/2006/main">
            <a:off x="6086475" y="3267075"/>
            <a:ext cx="3524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F9B323F-C96D-49C8-8AB9-7C36BA2C2517}"/>
              </a:ext>
            </a:extLst>
          </p:cNvPr>
          <p:cNvSpPr>
            <a:spLocks xmlns:a="http://schemas.openxmlformats.org/drawingml/2006/main" noGrp="1"/>
          </p:cNvSpPr>
          <p:nvPr/>
        </p:nvSpPr>
        <p:spPr>
          <a:xfrm xmlns:a="http://schemas.openxmlformats.org/drawingml/2006/main">
            <a:off x="6515100" y="2381250"/>
            <a:ext cx="2400300"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CBD6DF"/>
            </a:solidFill>
          </a:ln>
        </p:spPr>
      </p:sp>
      <p:sp>
        <p:nvSpPr>
          <p:cNvPr id="17" name="">
            <a:extLst xmlns:a="http://schemas.openxmlformats.org/drawingml/2006/main">
              <a:ext uri="{FF2B5EF4-FFF2-40B4-BE49-F238E27FC236}">
                <a16:creationId xmlns:a16="http://schemas.microsoft.com/office/drawing/2014/main" id="{89FF06EE-8395-4EF7-ADE8-B5B7A430938C}"/>
              </a:ext>
            </a:extLst>
          </p:cNvPr>
          <p:cNvSpPr>
            <a:spLocks xmlns:a="http://schemas.openxmlformats.org/drawingml/2006/main" noGrp="1"/>
          </p:cNvSpPr>
          <p:nvPr/>
        </p:nvSpPr>
        <p:spPr>
          <a:xfrm xmlns:a="http://schemas.openxmlformats.org/drawingml/2006/main">
            <a:off x="6715125" y="2667000"/>
            <a:ext cx="2000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75" b="1">
                <a:solidFill>
                  <a:srgbClr val="D81F26"/>
                </a:solidFill>
                <a:latin typeface="Arial"/>
                <a:ea typeface="Arial"/>
                <a:cs typeface="Arial"/>
              </a:defRPr>
            </a:pPr>
            <a:r>
              <a:rPr sz="2775" b="1">
                <a:solidFill>
                  <a:srgbClr val="D81F26"/>
                </a:solidFill>
                <a:latin typeface="Arial"/>
                <a:ea typeface="Arial"/>
                <a:cs typeface="Arial"/>
              </a:rPr>
              <a:t>SILVER</a:t>
            </a:r>
          </a:p>
        </p:txBody>
      </p:sp>
      <p:sp>
        <p:nvSpPr>
          <p:cNvPr id="18" name="">
            <a:extLst xmlns:a="http://schemas.openxmlformats.org/drawingml/2006/main">
              <a:ext uri="{FF2B5EF4-FFF2-40B4-BE49-F238E27FC236}">
                <a16:creationId xmlns:a16="http://schemas.microsoft.com/office/drawing/2014/main" id="{E16E3379-0DA8-4EDF-8A16-995E9BD3BE26}"/>
              </a:ext>
            </a:extLst>
          </p:cNvPr>
          <p:cNvSpPr>
            <a:spLocks xmlns:a="http://schemas.openxmlformats.org/drawingml/2006/main" noGrp="1"/>
          </p:cNvSpPr>
          <p:nvPr/>
        </p:nvSpPr>
        <p:spPr>
          <a:xfrm xmlns:a="http://schemas.openxmlformats.org/drawingml/2006/main">
            <a:off x="6705600" y="3257550"/>
            <a:ext cx="201930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19" name="">
            <a:extLst xmlns:a="http://schemas.openxmlformats.org/drawingml/2006/main">
              <a:ext uri="{FF2B5EF4-FFF2-40B4-BE49-F238E27FC236}">
                <a16:creationId xmlns:a16="http://schemas.microsoft.com/office/drawing/2014/main" id="{45A17F8E-8E26-40F8-BD7A-E957F7CE9D31}"/>
              </a:ext>
            </a:extLst>
          </p:cNvPr>
          <p:cNvSpPr>
            <a:spLocks xmlns:a="http://schemas.openxmlformats.org/drawingml/2006/main" noGrp="1"/>
          </p:cNvSpPr>
          <p:nvPr/>
        </p:nvSpPr>
        <p:spPr>
          <a:xfrm xmlns:a="http://schemas.openxmlformats.org/drawingml/2006/main">
            <a:off x="6715125" y="3476625"/>
            <a:ext cx="200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0">
                <a:solidFill>
                  <a:srgbClr val="17243B"/>
                </a:solidFill>
                <a:latin typeface="Arial"/>
                <a:ea typeface="Arial"/>
                <a:cs typeface="Arial"/>
              </a:defRPr>
            </a:pPr>
            <a:r>
              <a:rPr sz="1650" b="0">
                <a:solidFill>
                  <a:srgbClr val="17243B"/>
                </a:solidFill>
                <a:latin typeface="Arial"/>
                <a:ea typeface="Arial"/>
                <a:cs typeface="Arial"/>
              </a:rPr>
              <a:t>Lọc người dùng, chia thời gian</a:t>
            </a:r>
          </a:p>
        </p:txBody>
      </p:sp>
      <p:sp>
        <p:nvSpPr>
          <p:cNvPr id="20" name="">
            <a:extLst xmlns:a="http://schemas.openxmlformats.org/drawingml/2006/main">
              <a:ext uri="{FF2B5EF4-FFF2-40B4-BE49-F238E27FC236}">
                <a16:creationId xmlns:a16="http://schemas.microsoft.com/office/drawing/2014/main" id="{1C4CF585-7779-45BB-AF48-6A8EDF6DA256}"/>
              </a:ext>
            </a:extLst>
          </p:cNvPr>
          <p:cNvSpPr>
            <a:spLocks xmlns:a="http://schemas.openxmlformats.org/drawingml/2006/main" noGrp="1"/>
          </p:cNvSpPr>
          <p:nvPr/>
        </p:nvSpPr>
        <p:spPr>
          <a:xfrm xmlns:a="http://schemas.openxmlformats.org/drawingml/2006/main">
            <a:off x="8963025" y="3267075"/>
            <a:ext cx="3524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8B50D3C-0CBF-4EAE-977C-F16CD5F8EB73}"/>
              </a:ext>
            </a:extLst>
          </p:cNvPr>
          <p:cNvSpPr>
            <a:spLocks xmlns:a="http://schemas.openxmlformats.org/drawingml/2006/main" noGrp="1"/>
          </p:cNvSpPr>
          <p:nvPr/>
        </p:nvSpPr>
        <p:spPr>
          <a:xfrm xmlns:a="http://schemas.openxmlformats.org/drawingml/2006/main">
            <a:off x="9391650" y="2381250"/>
            <a:ext cx="2400300" cy="2000250"/>
          </a:xfrm>
          <a:prstGeom xmlns:a="http://schemas.openxmlformats.org/drawingml/2006/main" prst="roundRect">
            <a:avLst>
              <a:gd name="adj" fmla="val 3810"/>
            </a:avLst>
          </a:prstGeom>
          <a:solidFill xmlns:a="http://schemas.openxmlformats.org/drawingml/2006/main">
            <a:srgbClr val="0D1B2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027B01B-03D8-4464-B075-166E43672F13}"/>
              </a:ext>
            </a:extLst>
          </p:cNvPr>
          <p:cNvSpPr>
            <a:spLocks xmlns:a="http://schemas.openxmlformats.org/drawingml/2006/main" noGrp="1"/>
          </p:cNvSpPr>
          <p:nvPr/>
        </p:nvSpPr>
        <p:spPr>
          <a:xfrm xmlns:a="http://schemas.openxmlformats.org/drawingml/2006/main">
            <a:off x="9591675" y="2667000"/>
            <a:ext cx="20002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75" b="1">
                <a:solidFill>
                  <a:srgbClr val="FFFFFF"/>
                </a:solidFill>
                <a:latin typeface="Arial"/>
                <a:ea typeface="Arial"/>
                <a:cs typeface="Arial"/>
              </a:defRPr>
            </a:pPr>
            <a:r>
              <a:rPr sz="2775" b="1">
                <a:solidFill>
                  <a:srgbClr val="FFFFFF"/>
                </a:solidFill>
                <a:latin typeface="Arial"/>
                <a:ea typeface="Arial"/>
                <a:cs typeface="Arial"/>
              </a:rPr>
              <a:t>GOLD</a:t>
            </a:r>
          </a:p>
        </p:txBody>
      </p:sp>
      <p:sp>
        <p:nvSpPr>
          <p:cNvPr id="23" name="">
            <a:extLst xmlns:a="http://schemas.openxmlformats.org/drawingml/2006/main">
              <a:ext uri="{FF2B5EF4-FFF2-40B4-BE49-F238E27FC236}">
                <a16:creationId xmlns:a16="http://schemas.microsoft.com/office/drawing/2014/main" id="{0D1F59C2-C7F7-4686-9C8C-26B536B3B64C}"/>
              </a:ext>
            </a:extLst>
          </p:cNvPr>
          <p:cNvSpPr>
            <a:spLocks xmlns:a="http://schemas.openxmlformats.org/drawingml/2006/main" noGrp="1"/>
          </p:cNvSpPr>
          <p:nvPr/>
        </p:nvSpPr>
        <p:spPr>
          <a:xfrm xmlns:a="http://schemas.openxmlformats.org/drawingml/2006/main">
            <a:off x="9582150" y="3257550"/>
            <a:ext cx="2019300" cy="0"/>
          </a:xfrm>
          <a:prstGeom xmlns:a="http://schemas.openxmlformats.org/drawingml/2006/main" prst="line">
            <a:avLst/>
          </a:prstGeom>
          <a:noFill xmlns:a="http://schemas.openxmlformats.org/drawingml/2006/main"/>
          <a:ln xmlns:a="http://schemas.openxmlformats.org/drawingml/2006/main" w="19050">
            <a:solidFill>
              <a:srgbClr val="5C6C80"/>
            </a:solidFill>
          </a:ln>
        </p:spPr>
      </p:sp>
      <p:sp>
        <p:nvSpPr>
          <p:cNvPr id="24" name="">
            <a:extLst xmlns:a="http://schemas.openxmlformats.org/drawingml/2006/main">
              <a:ext uri="{FF2B5EF4-FFF2-40B4-BE49-F238E27FC236}">
                <a16:creationId xmlns:a16="http://schemas.microsoft.com/office/drawing/2014/main" id="{817CC335-0F3A-4817-BB62-15BD4CCFE54A}"/>
              </a:ext>
            </a:extLst>
          </p:cNvPr>
          <p:cNvSpPr>
            <a:spLocks xmlns:a="http://schemas.openxmlformats.org/drawingml/2006/main" noGrp="1"/>
          </p:cNvSpPr>
          <p:nvPr/>
        </p:nvSpPr>
        <p:spPr>
          <a:xfrm xmlns:a="http://schemas.openxmlformats.org/drawingml/2006/main">
            <a:off x="9591675" y="3476625"/>
            <a:ext cx="200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650" b="0">
                <a:solidFill>
                  <a:srgbClr val="FFFFFF"/>
                </a:solidFill>
                <a:latin typeface="Arial"/>
                <a:ea typeface="Arial"/>
                <a:cs typeface="Arial"/>
              </a:defRPr>
            </a:pPr>
            <a:r>
              <a:rPr sz="1650" b="0">
                <a:solidFill>
                  <a:srgbClr val="FFFFFF"/>
                </a:solidFill>
                <a:latin typeface="Arial"/>
                <a:ea typeface="Arial"/>
                <a:cs typeface="Arial"/>
              </a:rPr>
              <a:t>Tạo đặc trưng để huấn luyện</a:t>
            </a:r>
          </a:p>
        </p:txBody>
      </p:sp>
      <p:sp>
        <p:nvSpPr>
          <p:cNvPr id="25" name="">
            <a:extLst xmlns:a="http://schemas.openxmlformats.org/drawingml/2006/main">
              <a:ext uri="{FF2B5EF4-FFF2-40B4-BE49-F238E27FC236}">
                <a16:creationId xmlns:a16="http://schemas.microsoft.com/office/drawing/2014/main" id="{45013708-BDDA-4A5D-8318-7DD56CAD66ED}"/>
              </a:ext>
            </a:extLst>
          </p:cNvPr>
          <p:cNvSpPr>
            <a:spLocks xmlns:a="http://schemas.openxmlformats.org/drawingml/2006/main" noGrp="1"/>
          </p:cNvSpPr>
          <p:nvPr/>
        </p:nvSpPr>
        <p:spPr>
          <a:xfrm xmlns:a="http://schemas.openxmlformats.org/drawingml/2006/main">
            <a:off x="790575" y="49530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0">
                <a:solidFill>
                  <a:srgbClr val="526176"/>
                </a:solidFill>
                <a:latin typeface="Arial"/>
                <a:ea typeface="Arial"/>
                <a:cs typeface="Arial"/>
              </a:defRPr>
            </a:pPr>
            <a:r>
              <a:rPr sz="1875" b="0">
                <a:solidFill>
                  <a:srgbClr val="526176"/>
                </a:solidFill>
                <a:latin typeface="Arial"/>
                <a:ea typeface="Arial"/>
                <a:cs typeface="Arial"/>
              </a:rPr>
              <a:t>HDFS lưu tệp  ·  Spark xử lý và tạo bảng ở cấu hình full</a:t>
            </a:r>
          </a:p>
        </p:txBody>
      </p:sp>
    </p:spTree>
    <p:extLst>
      <p:ext uri="{BB962C8B-B14F-4D97-AF65-F5344CB8AC3E}">
        <p14:creationId xmlns:p14="http://schemas.microsoft.com/office/powerpoint/2010/main" val="1541881413"/>
      </p:ext>
    </p:extLst>
  </p:cSld>
</p:sld>
</file>

<file path=ppt/slides/slide7.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510B98B-3F72-46FB-8782-8BE3EBEAF18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7B76413-B377-4CD8-81BC-88D59DFB90BE}"/>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Ba cách tạo danh sách gợi ý</a:t>
            </a:r>
          </a:p>
        </p:txBody>
      </p:sp>
      <p:sp>
        <p:nvSpPr>
          <p:cNvPr id="3" name="">
            <a:extLst xmlns:a="http://schemas.openxmlformats.org/drawingml/2006/main">
              <a:ext uri="{FF2B5EF4-FFF2-40B4-BE49-F238E27FC236}">
                <a16:creationId xmlns:a16="http://schemas.microsoft.com/office/drawing/2014/main" id="{5F991376-5BE6-4E3F-8EA0-B60B7244BB01}"/>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Cùng một tập test, khác nhau ở cách chọn và xếp phim.</a:t>
            </a:r>
          </a:p>
        </p:txBody>
      </p:sp>
      <p:sp>
        <p:nvSpPr>
          <p:cNvPr id="4" name="">
            <a:extLst xmlns:a="http://schemas.openxmlformats.org/drawingml/2006/main">
              <a:ext uri="{FF2B5EF4-FFF2-40B4-BE49-F238E27FC236}">
                <a16:creationId xmlns:a16="http://schemas.microsoft.com/office/drawing/2014/main" id="{85146BA4-598F-41C4-9FB1-D0733B3C2BBA}"/>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54FD8F3D-5D7B-4914-9971-1E3AE528C496}"/>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07</a:t>
            </a:r>
          </a:p>
        </p:txBody>
      </p:sp>
      <p:sp>
        <p:nvSpPr>
          <p:cNvPr id="6" name="">
            <a:extLst xmlns:a="http://schemas.openxmlformats.org/drawingml/2006/main">
              <a:ext uri="{FF2B5EF4-FFF2-40B4-BE49-F238E27FC236}">
                <a16:creationId xmlns:a16="http://schemas.microsoft.com/office/drawing/2014/main" id="{E680260A-E7CC-47F2-BA6A-577857F61FFA}"/>
              </a:ext>
            </a:extLst>
          </p:cNvPr>
          <p:cNvSpPr>
            <a:spLocks xmlns:a="http://schemas.openxmlformats.org/drawingml/2006/main" noGrp="1"/>
          </p:cNvSpPr>
          <p:nvPr/>
        </p:nvSpPr>
        <p:spPr>
          <a:xfrm xmlns:a="http://schemas.openxmlformats.org/drawingml/2006/main">
            <a:off x="809625" y="1914525"/>
            <a:ext cx="2714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400" b="1">
                <a:solidFill>
                  <a:srgbClr val="0D1B2A"/>
                </a:solidFill>
                <a:latin typeface="Arial"/>
                <a:ea typeface="Arial"/>
                <a:cs typeface="Arial"/>
              </a:defRPr>
            </a:pPr>
            <a:r>
              <a:rPr sz="2400" b="1">
                <a:solidFill>
                  <a:srgbClr val="0D1B2A"/>
                </a:solidFill>
                <a:latin typeface="Arial"/>
                <a:ea typeface="Arial"/>
                <a:cs typeface="Arial"/>
              </a:rPr>
              <a:t>Dữ liệu TRAIN</a:t>
            </a:r>
          </a:p>
        </p:txBody>
      </p:sp>
      <p:sp>
        <p:nvSpPr>
          <p:cNvPr id="7" name="">
            <a:extLst xmlns:a="http://schemas.openxmlformats.org/drawingml/2006/main">
              <a:ext uri="{FF2B5EF4-FFF2-40B4-BE49-F238E27FC236}">
                <a16:creationId xmlns:a16="http://schemas.microsoft.com/office/drawing/2014/main" id="{F97F1B15-488F-459B-9E08-E2F076887509}"/>
              </a:ext>
            </a:extLst>
          </p:cNvPr>
          <p:cNvSpPr>
            <a:spLocks xmlns:a="http://schemas.openxmlformats.org/drawingml/2006/main" noGrp="1"/>
          </p:cNvSpPr>
          <p:nvPr/>
        </p:nvSpPr>
        <p:spPr>
          <a:xfrm xmlns:a="http://schemas.openxmlformats.org/drawingml/2006/main">
            <a:off x="2000250" y="2600325"/>
            <a:ext cx="0" cy="2733675"/>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8" name="">
            <a:extLst xmlns:a="http://schemas.openxmlformats.org/drawingml/2006/main">
              <a:ext uri="{FF2B5EF4-FFF2-40B4-BE49-F238E27FC236}">
                <a16:creationId xmlns:a16="http://schemas.microsoft.com/office/drawing/2014/main" id="{4CB3DC4E-9273-4316-9D6C-F6159BF5C418}"/>
              </a:ext>
            </a:extLst>
          </p:cNvPr>
          <p:cNvSpPr>
            <a:spLocks xmlns:a="http://schemas.openxmlformats.org/drawingml/2006/main" noGrp="1"/>
          </p:cNvSpPr>
          <p:nvPr/>
        </p:nvSpPr>
        <p:spPr>
          <a:xfrm xmlns:a="http://schemas.openxmlformats.org/drawingml/2006/main">
            <a:off x="2000250" y="2867025"/>
            <a:ext cx="838200" cy="0"/>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9" name="">
            <a:extLst xmlns:a="http://schemas.openxmlformats.org/drawingml/2006/main">
              <a:ext uri="{FF2B5EF4-FFF2-40B4-BE49-F238E27FC236}">
                <a16:creationId xmlns:a16="http://schemas.microsoft.com/office/drawing/2014/main" id="{76401866-351F-40EE-B1D2-232F03ADA214}"/>
              </a:ext>
            </a:extLst>
          </p:cNvPr>
          <p:cNvSpPr>
            <a:spLocks xmlns:a="http://schemas.openxmlformats.org/drawingml/2006/main" noGrp="1"/>
          </p:cNvSpPr>
          <p:nvPr/>
        </p:nvSpPr>
        <p:spPr>
          <a:xfrm xmlns:a="http://schemas.openxmlformats.org/drawingml/2006/main">
            <a:off x="2838450" y="2524125"/>
            <a:ext cx="352425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E993CB5-94F4-4E98-944A-83DF8C8F2B9C}"/>
              </a:ext>
            </a:extLst>
          </p:cNvPr>
          <p:cNvSpPr>
            <a:spLocks xmlns:a="http://schemas.openxmlformats.org/drawingml/2006/main" noGrp="1"/>
          </p:cNvSpPr>
          <p:nvPr/>
        </p:nvSpPr>
        <p:spPr>
          <a:xfrm xmlns:a="http://schemas.openxmlformats.org/drawingml/2006/main">
            <a:off x="3057525" y="263842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Phim phổ biến</a:t>
            </a:r>
          </a:p>
        </p:txBody>
      </p:sp>
      <p:sp>
        <p:nvSpPr>
          <p:cNvPr id="11" name="">
            <a:extLst xmlns:a="http://schemas.openxmlformats.org/drawingml/2006/main">
              <a:ext uri="{FF2B5EF4-FFF2-40B4-BE49-F238E27FC236}">
                <a16:creationId xmlns:a16="http://schemas.microsoft.com/office/drawing/2014/main" id="{41F9B95E-A7D8-4117-8512-EB03C5904567}"/>
              </a:ext>
            </a:extLst>
          </p:cNvPr>
          <p:cNvSpPr>
            <a:spLocks xmlns:a="http://schemas.openxmlformats.org/drawingml/2006/main" noGrp="1"/>
          </p:cNvSpPr>
          <p:nvPr/>
        </p:nvSpPr>
        <p:spPr>
          <a:xfrm xmlns:a="http://schemas.openxmlformats.org/drawingml/2006/main">
            <a:off x="6515100" y="2800350"/>
            <a:ext cx="4286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B9AEDA0-40D2-4628-89BE-91208894443B}"/>
              </a:ext>
            </a:extLst>
          </p:cNvPr>
          <p:cNvSpPr>
            <a:spLocks xmlns:a="http://schemas.openxmlformats.org/drawingml/2006/main" noGrp="1"/>
          </p:cNvSpPr>
          <p:nvPr/>
        </p:nvSpPr>
        <p:spPr>
          <a:xfrm xmlns:a="http://schemas.openxmlformats.org/drawingml/2006/main">
            <a:off x="7115175" y="261937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0">
                <a:solidFill>
                  <a:srgbClr val="17243B"/>
                </a:solidFill>
                <a:latin typeface="Arial"/>
                <a:ea typeface="Arial"/>
                <a:cs typeface="Arial"/>
              </a:defRPr>
            </a:pPr>
            <a:r>
              <a:rPr sz="1725" b="0">
                <a:solidFill>
                  <a:srgbClr val="17243B"/>
                </a:solidFill>
                <a:latin typeface="Arial"/>
                <a:ea typeface="Arial"/>
                <a:cs typeface="Arial"/>
              </a:rPr>
              <a:t>Xếp theo độ phổ biến</a:t>
            </a:r>
          </a:p>
        </p:txBody>
      </p:sp>
      <p:sp>
        <p:nvSpPr>
          <p:cNvPr id="13" name="">
            <a:extLst xmlns:a="http://schemas.openxmlformats.org/drawingml/2006/main">
              <a:ext uri="{FF2B5EF4-FFF2-40B4-BE49-F238E27FC236}">
                <a16:creationId xmlns:a16="http://schemas.microsoft.com/office/drawing/2014/main" id="{CFCF9A2B-E35C-4CB2-856D-E6EC80F0D221}"/>
              </a:ext>
            </a:extLst>
          </p:cNvPr>
          <p:cNvSpPr>
            <a:spLocks xmlns:a="http://schemas.openxmlformats.org/drawingml/2006/main" noGrp="1"/>
          </p:cNvSpPr>
          <p:nvPr/>
        </p:nvSpPr>
        <p:spPr>
          <a:xfrm xmlns:a="http://schemas.openxmlformats.org/drawingml/2006/main">
            <a:off x="2000250" y="3943350"/>
            <a:ext cx="838200" cy="0"/>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14" name="">
            <a:extLst xmlns:a="http://schemas.openxmlformats.org/drawingml/2006/main">
              <a:ext uri="{FF2B5EF4-FFF2-40B4-BE49-F238E27FC236}">
                <a16:creationId xmlns:a16="http://schemas.microsoft.com/office/drawing/2014/main" id="{917108B3-80FD-4498-A012-EC80D60464C0}"/>
              </a:ext>
            </a:extLst>
          </p:cNvPr>
          <p:cNvSpPr>
            <a:spLocks xmlns:a="http://schemas.openxmlformats.org/drawingml/2006/main" noGrp="1"/>
          </p:cNvSpPr>
          <p:nvPr/>
        </p:nvSpPr>
        <p:spPr>
          <a:xfrm xmlns:a="http://schemas.openxmlformats.org/drawingml/2006/main">
            <a:off x="2838450" y="3600450"/>
            <a:ext cx="352425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2E32A9C-C8BC-4B3B-93BD-731D1FEA4E73}"/>
              </a:ext>
            </a:extLst>
          </p:cNvPr>
          <p:cNvSpPr>
            <a:spLocks xmlns:a="http://schemas.openxmlformats.org/drawingml/2006/main" noGrp="1"/>
          </p:cNvSpPr>
          <p:nvPr/>
        </p:nvSpPr>
        <p:spPr>
          <a:xfrm xmlns:a="http://schemas.openxmlformats.org/drawingml/2006/main">
            <a:off x="3057525" y="3714750"/>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1">
                <a:solidFill>
                  <a:srgbClr val="0D1B2A"/>
                </a:solidFill>
                <a:latin typeface="Arial"/>
                <a:ea typeface="Arial"/>
                <a:cs typeface="Arial"/>
              </a:defRPr>
            </a:pPr>
            <a:r>
              <a:rPr sz="2100" b="1">
                <a:solidFill>
                  <a:srgbClr val="0D1B2A"/>
                </a:solidFill>
                <a:latin typeface="Arial"/>
                <a:ea typeface="Arial"/>
                <a:cs typeface="Arial"/>
              </a:rPr>
              <a:t>ALS</a:t>
            </a:r>
          </a:p>
        </p:txBody>
      </p:sp>
      <p:sp>
        <p:nvSpPr>
          <p:cNvPr id="16" name="">
            <a:extLst xmlns:a="http://schemas.openxmlformats.org/drawingml/2006/main">
              <a:ext uri="{FF2B5EF4-FFF2-40B4-BE49-F238E27FC236}">
                <a16:creationId xmlns:a16="http://schemas.microsoft.com/office/drawing/2014/main" id="{54E948EB-8652-4963-BEA1-4A25CDCC55D5}"/>
              </a:ext>
            </a:extLst>
          </p:cNvPr>
          <p:cNvSpPr>
            <a:spLocks xmlns:a="http://schemas.openxmlformats.org/drawingml/2006/main" noGrp="1"/>
          </p:cNvSpPr>
          <p:nvPr/>
        </p:nvSpPr>
        <p:spPr>
          <a:xfrm xmlns:a="http://schemas.openxmlformats.org/drawingml/2006/main">
            <a:off x="6515100" y="3876675"/>
            <a:ext cx="4286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6174AD8-ADD9-4E4A-8618-E0C8F9C89DF7}"/>
              </a:ext>
            </a:extLst>
          </p:cNvPr>
          <p:cNvSpPr>
            <a:spLocks xmlns:a="http://schemas.openxmlformats.org/drawingml/2006/main" noGrp="1"/>
          </p:cNvSpPr>
          <p:nvPr/>
        </p:nvSpPr>
        <p:spPr>
          <a:xfrm xmlns:a="http://schemas.openxmlformats.org/drawingml/2006/main">
            <a:off x="7115175" y="3695700"/>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0">
                <a:solidFill>
                  <a:srgbClr val="17243B"/>
                </a:solidFill>
                <a:latin typeface="Arial"/>
                <a:ea typeface="Arial"/>
                <a:cs typeface="Arial"/>
              </a:defRPr>
            </a:pPr>
            <a:r>
              <a:rPr sz="1725" b="0">
                <a:solidFill>
                  <a:srgbClr val="17243B"/>
                </a:solidFill>
                <a:latin typeface="Arial"/>
                <a:ea typeface="Arial"/>
                <a:cs typeface="Arial"/>
              </a:rPr>
              <a:t>Học mẫu chấm của người và phim</a:t>
            </a:r>
          </a:p>
        </p:txBody>
      </p:sp>
      <p:sp>
        <p:nvSpPr>
          <p:cNvPr id="18" name="">
            <a:extLst xmlns:a="http://schemas.openxmlformats.org/drawingml/2006/main">
              <a:ext uri="{FF2B5EF4-FFF2-40B4-BE49-F238E27FC236}">
                <a16:creationId xmlns:a16="http://schemas.microsoft.com/office/drawing/2014/main" id="{00FE8200-8692-465A-84DF-2C4216920867}"/>
              </a:ext>
            </a:extLst>
          </p:cNvPr>
          <p:cNvSpPr>
            <a:spLocks xmlns:a="http://schemas.openxmlformats.org/drawingml/2006/main" noGrp="1"/>
          </p:cNvSpPr>
          <p:nvPr/>
        </p:nvSpPr>
        <p:spPr>
          <a:xfrm xmlns:a="http://schemas.openxmlformats.org/drawingml/2006/main">
            <a:off x="2000250" y="5019675"/>
            <a:ext cx="838200" cy="0"/>
          </a:xfrm>
          <a:prstGeom xmlns:a="http://schemas.openxmlformats.org/drawingml/2006/main" prst="line">
            <a:avLst/>
          </a:prstGeom>
          <a:noFill xmlns:a="http://schemas.openxmlformats.org/drawingml/2006/main"/>
          <a:ln xmlns:a="http://schemas.openxmlformats.org/drawingml/2006/main" w="38100">
            <a:solidFill>
              <a:srgbClr val="D81F26"/>
            </a:solidFill>
          </a:ln>
        </p:spPr>
      </p:sp>
      <p:sp>
        <p:nvSpPr>
          <p:cNvPr id="19" name="">
            <a:extLst xmlns:a="http://schemas.openxmlformats.org/drawingml/2006/main">
              <a:ext uri="{FF2B5EF4-FFF2-40B4-BE49-F238E27FC236}">
                <a16:creationId xmlns:a16="http://schemas.microsoft.com/office/drawing/2014/main" id="{9B3E8056-41F4-4500-A009-0029C3D4C30F}"/>
              </a:ext>
            </a:extLst>
          </p:cNvPr>
          <p:cNvSpPr>
            <a:spLocks xmlns:a="http://schemas.openxmlformats.org/drawingml/2006/main" noGrp="1"/>
          </p:cNvSpPr>
          <p:nvPr/>
        </p:nvSpPr>
        <p:spPr>
          <a:xfrm xmlns:a="http://schemas.openxmlformats.org/drawingml/2006/main">
            <a:off x="2838450" y="4676775"/>
            <a:ext cx="3524250" cy="742950"/>
          </a:xfrm>
          <a:prstGeom xmlns:a="http://schemas.openxmlformats.org/drawingml/2006/main" prst="roundRect">
            <a:avLst>
              <a:gd name="adj" fmla="val 10256"/>
            </a:avLst>
          </a:prstGeom>
          <a:solidFill xmlns:a="http://schemas.openxmlformats.org/drawingml/2006/main">
            <a:srgbClr val="0D1B2A"/>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176328B-A3AA-4B01-9BE1-AB7F4F2B2F50}"/>
              </a:ext>
            </a:extLst>
          </p:cNvPr>
          <p:cNvSpPr>
            <a:spLocks xmlns:a="http://schemas.openxmlformats.org/drawingml/2006/main" noGrp="1"/>
          </p:cNvSpPr>
          <p:nvPr/>
        </p:nvSpPr>
        <p:spPr>
          <a:xfrm xmlns:a="http://schemas.openxmlformats.org/drawingml/2006/main">
            <a:off x="3057525" y="4791075"/>
            <a:ext cx="304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1">
                <a:solidFill>
                  <a:srgbClr val="FFFFFF"/>
                </a:solidFill>
                <a:latin typeface="Arial"/>
                <a:ea typeface="Arial"/>
                <a:cs typeface="Arial"/>
              </a:defRPr>
            </a:pPr>
            <a:r>
              <a:rPr sz="2100" b="1">
                <a:solidFill>
                  <a:srgbClr val="FFFFFF"/>
                </a:solidFill>
                <a:latin typeface="Arial"/>
                <a:ea typeface="Arial"/>
                <a:cs typeface="Arial"/>
              </a:rPr>
              <a:t>ALS kết hợp</a:t>
            </a:r>
          </a:p>
        </p:txBody>
      </p:sp>
      <p:sp>
        <p:nvSpPr>
          <p:cNvPr id="21" name="">
            <a:extLst xmlns:a="http://schemas.openxmlformats.org/drawingml/2006/main">
              <a:ext uri="{FF2B5EF4-FFF2-40B4-BE49-F238E27FC236}">
                <a16:creationId xmlns:a16="http://schemas.microsoft.com/office/drawing/2014/main" id="{6D9B1092-EAB3-4B74-ACC6-60579571FA5E}"/>
              </a:ext>
            </a:extLst>
          </p:cNvPr>
          <p:cNvSpPr>
            <a:spLocks xmlns:a="http://schemas.openxmlformats.org/drawingml/2006/main" noGrp="1"/>
          </p:cNvSpPr>
          <p:nvPr/>
        </p:nvSpPr>
        <p:spPr>
          <a:xfrm xmlns:a="http://schemas.openxmlformats.org/drawingml/2006/main">
            <a:off x="6515100" y="4953000"/>
            <a:ext cx="428625" cy="209550"/>
          </a:xfrm>
          <a:prstGeom xmlns:a="http://schemas.openxmlformats.org/drawingml/2006/main" prst="rightArrow">
            <a:avLst/>
          </a:prstGeom>
          <a:solidFill xmlns:a="http://schemas.openxmlformats.org/drawingml/2006/main">
            <a:srgbClr val="D81F26"/>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6B6E6AF0-1697-4098-9513-BEDF6B92D924}"/>
              </a:ext>
            </a:extLst>
          </p:cNvPr>
          <p:cNvSpPr>
            <a:spLocks xmlns:a="http://schemas.openxmlformats.org/drawingml/2006/main" noGrp="1"/>
          </p:cNvSpPr>
          <p:nvPr/>
        </p:nvSpPr>
        <p:spPr>
          <a:xfrm xmlns:a="http://schemas.openxmlformats.org/drawingml/2006/main">
            <a:off x="7115175" y="4772025"/>
            <a:ext cx="4000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725" b="0">
                <a:solidFill>
                  <a:srgbClr val="17243B"/>
                </a:solidFill>
                <a:latin typeface="Arial"/>
                <a:ea typeface="Arial"/>
                <a:cs typeface="Arial"/>
              </a:defRPr>
            </a:pPr>
            <a:r>
              <a:rPr sz="1725" b="0">
                <a:solidFill>
                  <a:srgbClr val="17243B"/>
                </a:solidFill>
                <a:latin typeface="Arial"/>
                <a:ea typeface="Arial"/>
                <a:cs typeface="Arial"/>
              </a:rPr>
              <a:t>Xếp lại ứng viên bằng đặc trưng</a:t>
            </a:r>
          </a:p>
        </p:txBody>
      </p:sp>
    </p:spTree>
    <p:extLst>
      <p:ext uri="{BB962C8B-B14F-4D97-AF65-F5344CB8AC3E}">
        <p14:creationId xmlns:p14="http://schemas.microsoft.com/office/powerpoint/2010/main" val="1220083998"/>
      </p:ext>
    </p:extLst>
  </p:cSld>
</p:sld>
</file>

<file path=ppt/slides/slide8.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4F18661-8232-47FA-9BE8-7D9D4FD1D3E5}"/>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45C839-CA4E-4C4A-8539-48FF1BD1E9D0}"/>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Hai cấu hình có phạm vi khác nhau</a:t>
            </a:r>
          </a:p>
        </p:txBody>
      </p:sp>
      <p:sp>
        <p:nvSpPr>
          <p:cNvPr id="3" name="">
            <a:extLst xmlns:a="http://schemas.openxmlformats.org/drawingml/2006/main">
              <a:ext uri="{FF2B5EF4-FFF2-40B4-BE49-F238E27FC236}">
                <a16:creationId xmlns:a16="http://schemas.microsoft.com/office/drawing/2014/main" id="{49398845-076A-4135-9092-89F9189620F0}"/>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Tên mô hình giống nhau nhưng môi trường chạy và bằng chứng khác nhau.</a:t>
            </a:r>
          </a:p>
        </p:txBody>
      </p:sp>
      <p:sp>
        <p:nvSpPr>
          <p:cNvPr id="4" name="">
            <a:extLst xmlns:a="http://schemas.openxmlformats.org/drawingml/2006/main">
              <a:ext uri="{FF2B5EF4-FFF2-40B4-BE49-F238E27FC236}">
                <a16:creationId xmlns:a16="http://schemas.microsoft.com/office/drawing/2014/main" id="{16CDE22A-B413-423A-BF43-5290F55A81F3}"/>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6297B029-E8C0-4159-B2EF-781E8B2082FC}"/>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08</a:t>
            </a:r>
          </a:p>
        </p:txBody>
      </p:sp>
      <p:sp>
        <p:nvSpPr>
          <p:cNvPr id="6" name="">
            <a:extLst xmlns:a="http://schemas.openxmlformats.org/drawingml/2006/main">
              <a:ext uri="{FF2B5EF4-FFF2-40B4-BE49-F238E27FC236}">
                <a16:creationId xmlns:a16="http://schemas.microsoft.com/office/drawing/2014/main" id="{83254067-641D-4BBB-828C-7EBF082B73BC}"/>
              </a:ext>
            </a:extLst>
          </p:cNvPr>
          <p:cNvSpPr>
            <a:spLocks xmlns:a="http://schemas.openxmlformats.org/drawingml/2006/main" noGrp="1"/>
          </p:cNvSpPr>
          <p:nvPr/>
        </p:nvSpPr>
        <p:spPr>
          <a:xfrm xmlns:a="http://schemas.openxmlformats.org/drawingml/2006/main">
            <a:off x="742950" y="2047875"/>
            <a:ext cx="5124450" cy="3048000"/>
          </a:xfrm>
          <a:prstGeom xmlns:a="http://schemas.openxmlformats.org/drawingml/2006/main" prst="roundRect">
            <a:avLst>
              <a:gd name="adj" fmla="val 2500"/>
            </a:avLst>
          </a:prstGeom>
          <a:solidFill xmlns:a="http://schemas.openxmlformats.org/drawingml/2006/main">
            <a:srgbClr val="FFFFFF"/>
          </a:solidFill>
          <a:ln xmlns:a="http://schemas.openxmlformats.org/drawingml/2006/main" w="9525">
            <a:solidFill>
              <a:srgbClr val="C8D3DE"/>
            </a:solidFill>
          </a:ln>
        </p:spPr>
      </p:sp>
      <p:sp>
        <p:nvSpPr>
          <p:cNvPr id="7" name="">
            <a:extLst xmlns:a="http://schemas.openxmlformats.org/drawingml/2006/main">
              <a:ext uri="{FF2B5EF4-FFF2-40B4-BE49-F238E27FC236}">
                <a16:creationId xmlns:a16="http://schemas.microsoft.com/office/drawing/2014/main" id="{D333597A-6682-4562-8E9F-D4B918312C55}"/>
              </a:ext>
            </a:extLst>
          </p:cNvPr>
          <p:cNvSpPr>
            <a:spLocks xmlns:a="http://schemas.openxmlformats.org/drawingml/2006/main" noGrp="1"/>
          </p:cNvSpPr>
          <p:nvPr/>
        </p:nvSpPr>
        <p:spPr>
          <a:xfrm xmlns:a="http://schemas.openxmlformats.org/drawingml/2006/main">
            <a:off x="990600" y="2314575"/>
            <a:ext cx="4524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850" b="1">
                <a:solidFill>
                  <a:srgbClr val="0D1B2A"/>
                </a:solidFill>
                <a:latin typeface="Arial"/>
                <a:ea typeface="Arial"/>
                <a:cs typeface="Arial"/>
              </a:defRPr>
            </a:pPr>
            <a:r>
              <a:rPr sz="2850" b="1">
                <a:solidFill>
                  <a:srgbClr val="0D1B2A"/>
                </a:solidFill>
                <a:latin typeface="Arial"/>
                <a:ea typeface="Arial"/>
                <a:cs typeface="Arial"/>
              </a:rPr>
              <a:t>FULL</a:t>
            </a:r>
          </a:p>
        </p:txBody>
      </p:sp>
      <p:sp>
        <p:nvSpPr>
          <p:cNvPr id="8" name="">
            <a:extLst xmlns:a="http://schemas.openxmlformats.org/drawingml/2006/main">
              <a:ext uri="{FF2B5EF4-FFF2-40B4-BE49-F238E27FC236}">
                <a16:creationId xmlns:a16="http://schemas.microsoft.com/office/drawing/2014/main" id="{B47CDB9D-FAC5-4A77-BFFF-0D6C1108D84D}"/>
              </a:ext>
            </a:extLst>
          </p:cNvPr>
          <p:cNvSpPr>
            <a:spLocks xmlns:a="http://schemas.openxmlformats.org/drawingml/2006/main" noGrp="1"/>
          </p:cNvSpPr>
          <p:nvPr/>
        </p:nvSpPr>
        <p:spPr>
          <a:xfrm xmlns:a="http://schemas.openxmlformats.org/drawingml/2006/main">
            <a:off x="990600" y="2971800"/>
            <a:ext cx="45529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9" name="">
            <a:extLst xmlns:a="http://schemas.openxmlformats.org/drawingml/2006/main">
              <a:ext uri="{FF2B5EF4-FFF2-40B4-BE49-F238E27FC236}">
                <a16:creationId xmlns:a16="http://schemas.microsoft.com/office/drawing/2014/main" id="{2EFE3629-1189-4889-806C-875934D913B2}"/>
              </a:ext>
            </a:extLst>
          </p:cNvPr>
          <p:cNvSpPr>
            <a:spLocks xmlns:a="http://schemas.openxmlformats.org/drawingml/2006/main" noGrp="1"/>
          </p:cNvSpPr>
          <p:nvPr/>
        </p:nvSpPr>
        <p:spPr>
          <a:xfrm xmlns:a="http://schemas.openxmlformats.org/drawingml/2006/main">
            <a:off x="1000125" y="3276600"/>
            <a:ext cx="4429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MovieLens 25M</a:t>
            </a:r>
          </a:p>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HDFS + Spark ALS</a:t>
            </a:r>
          </a:p>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TensorFlow MLP</a:t>
            </a:r>
          </a:p>
        </p:txBody>
      </p:sp>
      <p:sp>
        <p:nvSpPr>
          <p:cNvPr id="10" name="">
            <a:extLst xmlns:a="http://schemas.openxmlformats.org/drawingml/2006/main">
              <a:ext uri="{FF2B5EF4-FFF2-40B4-BE49-F238E27FC236}">
                <a16:creationId xmlns:a16="http://schemas.microsoft.com/office/drawing/2014/main" id="{33ECA4DE-17BD-4720-BD76-E207C111638C}"/>
              </a:ext>
            </a:extLst>
          </p:cNvPr>
          <p:cNvSpPr>
            <a:spLocks xmlns:a="http://schemas.openxmlformats.org/drawingml/2006/main" noGrp="1"/>
          </p:cNvSpPr>
          <p:nvPr/>
        </p:nvSpPr>
        <p:spPr>
          <a:xfrm xmlns:a="http://schemas.openxmlformats.org/drawingml/2006/main">
            <a:off x="6305550" y="2047875"/>
            <a:ext cx="5124450" cy="3048000"/>
          </a:xfrm>
          <a:prstGeom xmlns:a="http://schemas.openxmlformats.org/drawingml/2006/main" prst="roundRect">
            <a:avLst>
              <a:gd name="adj" fmla="val 2500"/>
            </a:avLst>
          </a:prstGeom>
          <a:solidFill xmlns:a="http://schemas.openxmlformats.org/drawingml/2006/main">
            <a:srgbClr val="FBE9E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61F11220-83CF-4A62-8B6E-3A334FDF91D5}"/>
              </a:ext>
            </a:extLst>
          </p:cNvPr>
          <p:cNvSpPr>
            <a:spLocks xmlns:a="http://schemas.openxmlformats.org/drawingml/2006/main" noGrp="1"/>
          </p:cNvSpPr>
          <p:nvPr/>
        </p:nvSpPr>
        <p:spPr>
          <a:xfrm xmlns:a="http://schemas.openxmlformats.org/drawingml/2006/main">
            <a:off x="6572250" y="2314575"/>
            <a:ext cx="4476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75" b="1">
                <a:solidFill>
                  <a:srgbClr val="D81F26"/>
                </a:solidFill>
                <a:latin typeface="Arial"/>
                <a:ea typeface="Arial"/>
                <a:cs typeface="Arial"/>
              </a:defRPr>
            </a:pPr>
            <a:r>
              <a:rPr sz="2775" b="1">
                <a:solidFill>
                  <a:srgbClr val="D81F26"/>
                </a:solidFill>
                <a:latin typeface="Arial"/>
                <a:ea typeface="Arial"/>
                <a:cs typeface="Arial"/>
              </a:rPr>
              <a:t>SMOKE · ĐÃ CHẠY</a:t>
            </a:r>
          </a:p>
        </p:txBody>
      </p:sp>
      <p:sp>
        <p:nvSpPr>
          <p:cNvPr id="12" name="">
            <a:extLst xmlns:a="http://schemas.openxmlformats.org/drawingml/2006/main">
              <a:ext uri="{FF2B5EF4-FFF2-40B4-BE49-F238E27FC236}">
                <a16:creationId xmlns:a16="http://schemas.microsoft.com/office/drawing/2014/main" id="{C8F17205-8F07-4CDB-BED2-243C6AD9DC35}"/>
              </a:ext>
            </a:extLst>
          </p:cNvPr>
          <p:cNvSpPr>
            <a:spLocks xmlns:a="http://schemas.openxmlformats.org/drawingml/2006/main" noGrp="1"/>
          </p:cNvSpPr>
          <p:nvPr/>
        </p:nvSpPr>
        <p:spPr>
          <a:xfrm xmlns:a="http://schemas.openxmlformats.org/drawingml/2006/main">
            <a:off x="6572250" y="2971800"/>
            <a:ext cx="4514850" cy="0"/>
          </a:xfrm>
          <a:prstGeom xmlns:a="http://schemas.openxmlformats.org/drawingml/2006/main" prst="line">
            <a:avLst/>
          </a:prstGeom>
          <a:noFill xmlns:a="http://schemas.openxmlformats.org/drawingml/2006/main"/>
          <a:ln xmlns:a="http://schemas.openxmlformats.org/drawingml/2006/main" w="19050">
            <a:solidFill>
              <a:srgbClr val="EFC2C5"/>
            </a:solidFill>
          </a:ln>
        </p:spPr>
      </p:sp>
      <p:sp>
        <p:nvSpPr>
          <p:cNvPr id="13" name="">
            <a:extLst xmlns:a="http://schemas.openxmlformats.org/drawingml/2006/main">
              <a:ext uri="{FF2B5EF4-FFF2-40B4-BE49-F238E27FC236}">
                <a16:creationId xmlns:a16="http://schemas.microsoft.com/office/drawing/2014/main" id="{C5C0C734-3ED3-494D-9BAF-42D3030E2C69}"/>
              </a:ext>
            </a:extLst>
          </p:cNvPr>
          <p:cNvSpPr>
            <a:spLocks xmlns:a="http://schemas.openxmlformats.org/drawingml/2006/main" noGrp="1"/>
          </p:cNvSpPr>
          <p:nvPr/>
        </p:nvSpPr>
        <p:spPr>
          <a:xfrm xmlns:a="http://schemas.openxmlformats.org/drawingml/2006/main">
            <a:off x="6572250" y="3276600"/>
            <a:ext cx="4429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Dữ liệu mẫu</a:t>
            </a:r>
          </a:p>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Python / NumPy ALS</a:t>
            </a:r>
          </a:p>
          <a:p xmlns:a="http://schemas.openxmlformats.org/drawingml/2006/main">
            <a:pPr algn="l">
              <a:defRPr sz="2100" b="0">
                <a:solidFill>
                  <a:srgbClr val="17243B"/>
                </a:solidFill>
                <a:latin typeface="Arial"/>
                <a:ea typeface="Arial"/>
                <a:cs typeface="Arial"/>
              </a:defRPr>
            </a:pPr>
            <a:r>
              <a:rPr sz="2100" b="0">
                <a:solidFill>
                  <a:srgbClr val="17243B"/>
                </a:solidFill>
                <a:latin typeface="Arial"/>
                <a:ea typeface="Arial"/>
                <a:cs typeface="Arial"/>
              </a:rPr>
              <a:t>Xếp hạng lại logistic</a:t>
            </a:r>
          </a:p>
        </p:txBody>
      </p:sp>
      <p:sp>
        <p:nvSpPr>
          <p:cNvPr id="14" name="">
            <a:extLst xmlns:a="http://schemas.openxmlformats.org/drawingml/2006/main">
              <a:ext uri="{FF2B5EF4-FFF2-40B4-BE49-F238E27FC236}">
                <a16:creationId xmlns:a16="http://schemas.microsoft.com/office/drawing/2014/main" id="{70075367-3BF7-4BAD-A232-23132DBF8CB3}"/>
              </a:ext>
            </a:extLst>
          </p:cNvPr>
          <p:cNvSpPr>
            <a:spLocks xmlns:a="http://schemas.openxmlformats.org/drawingml/2006/main" noGrp="1"/>
          </p:cNvSpPr>
          <p:nvPr/>
        </p:nvSpPr>
        <p:spPr>
          <a:xfrm xmlns:a="http://schemas.openxmlformats.org/drawingml/2006/main">
            <a:off x="771525" y="5581650"/>
            <a:ext cx="1057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1">
                <a:solidFill>
                  <a:srgbClr val="D81F26"/>
                </a:solidFill>
                <a:latin typeface="Arial"/>
                <a:ea typeface="Arial"/>
                <a:cs typeface="Arial"/>
              </a:defRPr>
            </a:pPr>
            <a:r>
              <a:rPr sz="1875" b="1">
                <a:solidFill>
                  <a:srgbClr val="D81F26"/>
                </a:solidFill>
                <a:latin typeface="Arial"/>
                <a:ea typeface="Arial"/>
                <a:cs typeface="Arial"/>
              </a:rPr>
              <a:t>Bản nộp có kết quả smoke; chưa có số liệu kiểm chứng cho full.</a:t>
            </a:r>
          </a:p>
        </p:txBody>
      </p:sp>
    </p:spTree>
    <p:extLst>
      <p:ext uri="{BB962C8B-B14F-4D97-AF65-F5344CB8AC3E}">
        <p14:creationId xmlns:p14="http://schemas.microsoft.com/office/powerpoint/2010/main" val="1213095093"/>
      </p:ext>
    </p:extLst>
  </p:cSld>
</p:sld>
</file>

<file path=ppt/slides/slide9.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70DF63-2C6C-4654-A85C-10CF09646FE5}"/>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FF9522A-EC42-4850-A8C2-A05EB11D7520}"/>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Kết quả smoke trên 24 người dùng</a:t>
            </a:r>
          </a:p>
        </p:txBody>
      </p:sp>
      <p:sp>
        <p:nvSpPr>
          <p:cNvPr id="3" name="">
            <a:extLst xmlns:a="http://schemas.openxmlformats.org/drawingml/2006/main">
              <a:ext uri="{FF2B5EF4-FFF2-40B4-BE49-F238E27FC236}">
                <a16:creationId xmlns:a16="http://schemas.microsoft.com/office/drawing/2014/main" id="{510A665C-ADEF-4796-8587-12AB56AA7C63}"/>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Precision@10 và NDCG@10 (%). Bản lưu lúc 15:24 ngày 29/09/2026.</a:t>
            </a:r>
          </a:p>
        </p:txBody>
      </p:sp>
      <p:sp>
        <p:nvSpPr>
          <p:cNvPr id="4" name="">
            <a:extLst xmlns:a="http://schemas.openxmlformats.org/drawingml/2006/main">
              <a:ext uri="{FF2B5EF4-FFF2-40B4-BE49-F238E27FC236}">
                <a16:creationId xmlns:a16="http://schemas.microsoft.com/office/drawing/2014/main" id="{0345EC39-4950-4495-9438-5B1591D2355A}"/>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B98430E1-BE21-4EC9-A30B-4F4B08B23EC9}"/>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09</a:t>
            </a:r>
          </a:p>
        </p:txBody>
      </p:sp>
      <p:graphicFrame>
        <p:nvGraphicFramePr>
          <p:cNvPr id="13" name="Chart"/>
          <p:cNvGraphicFramePr/>
          <p:nvPr/>
        </p:nvGraphicFramePr>
        <p:xfrm>
          <a:off xmlns:a="http://schemas.openxmlformats.org/drawingml/2006/main" x="857250" y="1952625"/>
          <a:ext xmlns:a="http://schemas.openxmlformats.org/drawingml/2006/main" cx="10382250" cy="3667125"/>
        </p:xfrm>
        <a:graphic xmlns:a="http://schemas.openxmlformats.org/drawingml/2006/main">
          <a:graphicData uri="http://schemas.openxmlformats.org/drawingml/2006/chart">
            <c:chart xmlns:r="http://schemas.openxmlformats.org/officeDocument/2006/relationships" xmlns:c="http://schemas.openxmlformats.org/drawingml/2006/chart" r:id="R61802b93fd004674"/>
          </a:graphicData>
        </a:graphic>
      </p:graphicFrame>
      <p:sp>
        <p:nvSpPr>
          <p:cNvPr id="7" name="">
            <a:extLst xmlns:a="http://schemas.openxmlformats.org/drawingml/2006/main">
              <a:ext uri="{FF2B5EF4-FFF2-40B4-BE49-F238E27FC236}">
                <a16:creationId xmlns:a16="http://schemas.microsoft.com/office/drawing/2014/main" id="{5CD2CBA8-3C84-4CB3-893C-04C8E16ACF1B}"/>
              </a:ext>
            </a:extLst>
          </p:cNvPr>
          <p:cNvSpPr>
            <a:spLocks xmlns:a="http://schemas.openxmlformats.org/drawingml/2006/main" noGrp="1"/>
          </p:cNvSpPr>
          <p:nvPr/>
        </p:nvSpPr>
        <p:spPr>
          <a:xfrm xmlns:a="http://schemas.openxmlformats.org/drawingml/2006/main">
            <a:off x="895350" y="5743575"/>
            <a:ext cx="1028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350" b="0">
                <a:solidFill>
                  <a:srgbClr val="526176"/>
                </a:solidFill>
                <a:latin typeface="Arial"/>
                <a:ea typeface="Arial"/>
                <a:cs typeface="Arial"/>
              </a:defRPr>
            </a:pPr>
            <a:r>
              <a:rPr sz="1350" b="0">
                <a:solidFill>
                  <a:srgbClr val="526176"/>
                </a:solidFill>
                <a:latin typeface="Arial"/>
                <a:ea typeface="Arial"/>
                <a:cs typeface="Arial"/>
              </a:rPr>
              <a:t>Nguồn: artifacts/metrics/submission_smoke_metrics.json  ·  Python/NumPy  ·  MovieLens mẫu</a:t>
            </a:r>
          </a:p>
        </p:txBody>
      </p:sp>
    </p:spTree>
    <p:extLst>
      <p:ext uri="{BB962C8B-B14F-4D97-AF65-F5344CB8AC3E}">
        <p14:creationId xmlns:p14="http://schemas.microsoft.com/office/powerpoint/2010/main" val="1986778604"/>
      </p:ext>
    </p:extLst>
  </p:cSld>
</p:sld>
</file>

<file path=ppt/slides/slide10.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140F23-3E9A-4B40-991A-5C871B3981D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698FE0-D2F1-4711-B6DB-BD4C32D400D0}"/>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Dashboard cho xem gợi ý theo người dùng</a:t>
            </a:r>
          </a:p>
        </p:txBody>
      </p:sp>
      <p:sp>
        <p:nvSpPr>
          <p:cNvPr id="3" name="">
            <a:extLst xmlns:a="http://schemas.openxmlformats.org/drawingml/2006/main">
              <a:ext uri="{FF2B5EF4-FFF2-40B4-BE49-F238E27FC236}">
                <a16:creationId xmlns:a16="http://schemas.microsoft.com/office/drawing/2014/main" id="{5815D14F-7C24-434F-B7CB-30A8BABBD1FB}"/>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Ảnh chụp từ chế độ SMOKE; người dùng 1, ba danh sách gợi ý.</a:t>
            </a:r>
          </a:p>
        </p:txBody>
      </p:sp>
      <p:sp>
        <p:nvSpPr>
          <p:cNvPr id="4" name="">
            <a:extLst xmlns:a="http://schemas.openxmlformats.org/drawingml/2006/main">
              <a:ext uri="{FF2B5EF4-FFF2-40B4-BE49-F238E27FC236}">
                <a16:creationId xmlns:a16="http://schemas.microsoft.com/office/drawing/2014/main" id="{7DCD8B15-09E7-4BF4-97A6-1C074108F3AE}"/>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CAB396BC-23A5-4258-9326-EF873A12BD51}"/>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10</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c2c534721f74efb"/>
          <a:stretch xmlns:a="http://schemas.openxmlformats.org/drawingml/2006/main"/>
        </p:blipFill>
        <p:spPr>
          <a:xfrm xmlns:a="http://schemas.openxmlformats.org/drawingml/2006/main">
            <a:off x="726512" y="1581150"/>
            <a:ext cx="10729452" cy="4619625"/>
          </a:xfrm>
          <a:prstGeom xmlns:a="http://schemas.openxmlformats.org/drawingml/2006/main" prst="rect">
            <a:avLst/>
          </a:prstGeom>
        </p:spPr>
      </p:pic>
    </p:spTree>
    <p:extLst>
      <p:ext uri="{BB962C8B-B14F-4D97-AF65-F5344CB8AC3E}">
        <p14:creationId xmlns:p14="http://schemas.microsoft.com/office/powerpoint/2010/main" val="2082913155"/>
      </p:ext>
    </p:extLst>
  </p:cSld>
</p:sld>
</file>

<file path=ppt/slides/slide11.xml><?xml version="1.0" encoding="utf-8"?>
<p:sld xmlns:p="http://schemas.openxmlformats.org/presentationml/2006/main">
  <p:cSld>
    <p:bg>
      <p:bgPr>
        <a:solidFill xmlns:a="http://schemas.openxmlformats.org/drawingml/2006/main">
          <a:srgbClr val="F7F8FB"/>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7DEB7E-5F96-4B3A-832D-B5D3EA50998F}"/>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B065EC-1F8D-44B0-9FE5-DF2B8113897B}"/>
              </a:ext>
            </a:extLst>
          </p:cNvPr>
          <p:cNvSpPr>
            <a:spLocks xmlns:a="http://schemas.openxmlformats.org/drawingml/2006/main" noGrp="1"/>
          </p:cNvSpPr>
          <p:nvPr/>
        </p:nvSpPr>
        <p:spPr>
          <a:xfrm xmlns:a="http://schemas.openxmlformats.org/drawingml/2006/main">
            <a:off x="666750" y="419100"/>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225" b="1">
                <a:solidFill>
                  <a:srgbClr val="0D1B2A"/>
                </a:solidFill>
                <a:latin typeface="Arial"/>
                <a:ea typeface="Arial"/>
                <a:cs typeface="Arial"/>
              </a:defRPr>
            </a:pPr>
            <a:r>
              <a:rPr sz="3225" b="1">
                <a:solidFill>
                  <a:srgbClr val="0D1B2A"/>
                </a:solidFill>
                <a:latin typeface="Arial"/>
                <a:ea typeface="Arial"/>
                <a:cs typeface="Arial"/>
              </a:rPr>
              <a:t>Những gì bản nộp đã kiểm chứng</a:t>
            </a:r>
          </a:p>
        </p:txBody>
      </p:sp>
      <p:sp>
        <p:nvSpPr>
          <p:cNvPr id="3" name="">
            <a:extLst xmlns:a="http://schemas.openxmlformats.org/drawingml/2006/main">
              <a:ext uri="{FF2B5EF4-FFF2-40B4-BE49-F238E27FC236}">
                <a16:creationId xmlns:a16="http://schemas.microsoft.com/office/drawing/2014/main" id="{3795BF44-4BA2-4D64-8F74-04A57B362138}"/>
              </a:ext>
            </a:extLst>
          </p:cNvPr>
          <p:cNvSpPr>
            <a:spLocks xmlns:a="http://schemas.openxmlformats.org/drawingml/2006/main" noGrp="1"/>
          </p:cNvSpPr>
          <p:nvPr/>
        </p:nvSpPr>
        <p:spPr>
          <a:xfrm xmlns:a="http://schemas.openxmlformats.org/drawingml/2006/main">
            <a:off x="685800" y="1057275"/>
            <a:ext cx="10572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526176"/>
                </a:solidFill>
                <a:latin typeface="Arial"/>
                <a:ea typeface="Arial"/>
                <a:cs typeface="Arial"/>
              </a:defRPr>
            </a:pPr>
            <a:r>
              <a:rPr sz="1500" b="0">
                <a:solidFill>
                  <a:srgbClr val="526176"/>
                </a:solidFill>
                <a:latin typeface="Arial"/>
                <a:ea typeface="Arial"/>
                <a:cs typeface="Arial"/>
              </a:rPr>
              <a:t>Kết quả được đọc đúng theo môi trường đã chạy.</a:t>
            </a:r>
          </a:p>
        </p:txBody>
      </p:sp>
      <p:sp>
        <p:nvSpPr>
          <p:cNvPr id="4" name="">
            <a:extLst xmlns:a="http://schemas.openxmlformats.org/drawingml/2006/main">
              <a:ext uri="{FF2B5EF4-FFF2-40B4-BE49-F238E27FC236}">
                <a16:creationId xmlns:a16="http://schemas.microsoft.com/office/drawing/2014/main" id="{84EBF7CE-30FB-44FD-AF7D-8BBE9EFAD56F}"/>
              </a:ext>
            </a:extLst>
          </p:cNvPr>
          <p:cNvSpPr>
            <a:spLocks xmlns:a="http://schemas.openxmlformats.org/drawingml/2006/main" noGrp="1"/>
          </p:cNvSpPr>
          <p:nvPr/>
        </p:nvSpPr>
        <p:spPr>
          <a:xfrm xmlns:a="http://schemas.openxmlformats.org/drawingml/2006/main">
            <a:off x="666750" y="6400800"/>
            <a:ext cx="10858500" cy="0"/>
          </a:xfrm>
          <a:prstGeom xmlns:a="http://schemas.openxmlformats.org/drawingml/2006/main" prst="line">
            <a:avLst/>
          </a:prstGeom>
          <a:noFill xmlns:a="http://schemas.openxmlformats.org/drawingml/2006/main"/>
          <a:ln xmlns:a="http://schemas.openxmlformats.org/drawingml/2006/main" w="9525">
            <a:solidFill>
              <a:srgbClr val="E8EDF3"/>
            </a:solidFill>
          </a:ln>
        </p:spPr>
      </p:sp>
      <p:sp>
        <p:nvSpPr>
          <p:cNvPr id="5" name="">
            <a:extLst xmlns:a="http://schemas.openxmlformats.org/drawingml/2006/main">
              <a:ext uri="{FF2B5EF4-FFF2-40B4-BE49-F238E27FC236}">
                <a16:creationId xmlns:a16="http://schemas.microsoft.com/office/drawing/2014/main" id="{60F8E321-379A-4181-ABC2-904FE8471205}"/>
              </a:ext>
            </a:extLst>
          </p:cNvPr>
          <p:cNvSpPr>
            <a:spLocks xmlns:a="http://schemas.openxmlformats.org/drawingml/2006/main" noGrp="1"/>
          </p:cNvSpPr>
          <p:nvPr/>
        </p:nvSpPr>
        <p:spPr>
          <a:xfrm xmlns:a="http://schemas.openxmlformats.org/drawingml/2006/main">
            <a:off x="685800" y="648652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125" b="0">
                <a:solidFill>
                  <a:srgbClr val="526176"/>
                </a:solidFill>
                <a:latin typeface="Arial"/>
                <a:ea typeface="Arial"/>
                <a:cs typeface="Arial"/>
              </a:defRPr>
            </a:pPr>
            <a:r>
              <a:rPr sz="1125" b="0">
                <a:solidFill>
                  <a:srgbClr val="526176"/>
                </a:solidFill>
                <a:latin typeface="Arial"/>
                <a:ea typeface="Arial"/>
                <a:cs typeface="Arial"/>
              </a:rPr>
              <a:t>NHÓM 9  ·  11</a:t>
            </a:r>
          </a:p>
        </p:txBody>
      </p:sp>
      <p:sp>
        <p:nvSpPr>
          <p:cNvPr id="6" name="">
            <a:extLst xmlns:a="http://schemas.openxmlformats.org/drawingml/2006/main">
              <a:ext uri="{FF2B5EF4-FFF2-40B4-BE49-F238E27FC236}">
                <a16:creationId xmlns:a16="http://schemas.microsoft.com/office/drawing/2014/main" id="{5C3C28F6-8CF7-4612-80D9-5EDF729BFD6F}"/>
              </a:ext>
            </a:extLst>
          </p:cNvPr>
          <p:cNvSpPr>
            <a:spLocks xmlns:a="http://schemas.openxmlformats.org/drawingml/2006/main" noGrp="1"/>
          </p:cNvSpPr>
          <p:nvPr/>
        </p:nvSpPr>
        <p:spPr>
          <a:xfrm xmlns:a="http://schemas.openxmlformats.org/drawingml/2006/main">
            <a:off x="876300" y="2114550"/>
            <a:ext cx="3143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8100" b="1">
                <a:solidFill>
                  <a:srgbClr val="D81F26"/>
                </a:solidFill>
                <a:latin typeface="Arial"/>
                <a:ea typeface="Arial"/>
                <a:cs typeface="Arial"/>
              </a:defRPr>
            </a:pPr>
            <a:r>
              <a:rPr sz="8100" b="1">
                <a:solidFill>
                  <a:srgbClr val="D81F26"/>
                </a:solidFill>
                <a:latin typeface="Arial"/>
                <a:ea typeface="Arial"/>
                <a:cs typeface="Arial"/>
              </a:rPr>
              <a:t>21</a:t>
            </a:r>
          </a:p>
        </p:txBody>
      </p:sp>
      <p:sp>
        <p:nvSpPr>
          <p:cNvPr id="7" name="">
            <a:extLst xmlns:a="http://schemas.openxmlformats.org/drawingml/2006/main">
              <a:ext uri="{FF2B5EF4-FFF2-40B4-BE49-F238E27FC236}">
                <a16:creationId xmlns:a16="http://schemas.microsoft.com/office/drawing/2014/main" id="{0B8208E2-B302-463C-BACC-BBCF037B5872}"/>
              </a:ext>
            </a:extLst>
          </p:cNvPr>
          <p:cNvSpPr>
            <a:spLocks xmlns:a="http://schemas.openxmlformats.org/drawingml/2006/main" noGrp="1"/>
          </p:cNvSpPr>
          <p:nvPr/>
        </p:nvSpPr>
        <p:spPr>
          <a:xfrm xmlns:a="http://schemas.openxmlformats.org/drawingml/2006/main">
            <a:off x="904875" y="3429000"/>
            <a:ext cx="400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bài kiểm thử đạt</a:t>
            </a:r>
          </a:p>
        </p:txBody>
      </p:sp>
      <p:sp>
        <p:nvSpPr>
          <p:cNvPr id="8" name="">
            <a:extLst xmlns:a="http://schemas.openxmlformats.org/drawingml/2006/main">
              <a:ext uri="{FF2B5EF4-FFF2-40B4-BE49-F238E27FC236}">
                <a16:creationId xmlns:a16="http://schemas.microsoft.com/office/drawing/2014/main" id="{DBA27BCA-FEA8-4B6A-9EA4-16463BED6413}"/>
              </a:ext>
            </a:extLst>
          </p:cNvPr>
          <p:cNvSpPr>
            <a:spLocks xmlns:a="http://schemas.openxmlformats.org/drawingml/2006/main" noGrp="1"/>
          </p:cNvSpPr>
          <p:nvPr/>
        </p:nvSpPr>
        <p:spPr>
          <a:xfrm xmlns:a="http://schemas.openxmlformats.org/drawingml/2006/main">
            <a:off x="6657975" y="2114550"/>
            <a:ext cx="3143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8100" b="1">
                <a:solidFill>
                  <a:srgbClr val="D81F26"/>
                </a:solidFill>
                <a:latin typeface="Arial"/>
                <a:ea typeface="Arial"/>
                <a:cs typeface="Arial"/>
              </a:defRPr>
            </a:pPr>
            <a:r>
              <a:rPr sz="8100" b="1">
                <a:solidFill>
                  <a:srgbClr val="D81F26"/>
                </a:solidFill>
                <a:latin typeface="Arial"/>
                <a:ea typeface="Arial"/>
                <a:cs typeface="Arial"/>
              </a:rPr>
              <a:t>24</a:t>
            </a:r>
          </a:p>
        </p:txBody>
      </p:sp>
      <p:sp>
        <p:nvSpPr>
          <p:cNvPr id="9" name="">
            <a:extLst xmlns:a="http://schemas.openxmlformats.org/drawingml/2006/main">
              <a:ext uri="{FF2B5EF4-FFF2-40B4-BE49-F238E27FC236}">
                <a16:creationId xmlns:a16="http://schemas.microsoft.com/office/drawing/2014/main" id="{96FE1DC2-4F94-46D2-A324-EA4116A82E4B}"/>
              </a:ext>
            </a:extLst>
          </p:cNvPr>
          <p:cNvSpPr>
            <a:spLocks xmlns:a="http://schemas.openxmlformats.org/drawingml/2006/main" noGrp="1"/>
          </p:cNvSpPr>
          <p:nvPr/>
        </p:nvSpPr>
        <p:spPr>
          <a:xfrm xmlns:a="http://schemas.openxmlformats.org/drawingml/2006/main">
            <a:off x="6686550" y="3429000"/>
            <a:ext cx="457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người dùng trong smoke</a:t>
            </a:r>
          </a:p>
        </p:txBody>
      </p:sp>
      <p:sp>
        <p:nvSpPr>
          <p:cNvPr id="10" name="">
            <a:extLst xmlns:a="http://schemas.openxmlformats.org/drawingml/2006/main">
              <a:ext uri="{FF2B5EF4-FFF2-40B4-BE49-F238E27FC236}">
                <a16:creationId xmlns:a16="http://schemas.microsoft.com/office/drawing/2014/main" id="{BC17D450-AB0A-4089-9248-AB4ED9560EDF}"/>
              </a:ext>
            </a:extLst>
          </p:cNvPr>
          <p:cNvSpPr>
            <a:spLocks xmlns:a="http://schemas.openxmlformats.org/drawingml/2006/main" noGrp="1"/>
          </p:cNvSpPr>
          <p:nvPr/>
        </p:nvSpPr>
        <p:spPr>
          <a:xfrm xmlns:a="http://schemas.openxmlformats.org/drawingml/2006/main">
            <a:off x="857250" y="4457700"/>
            <a:ext cx="10382250" cy="0"/>
          </a:xfrm>
          <a:prstGeom xmlns:a="http://schemas.openxmlformats.org/drawingml/2006/main" prst="line">
            <a:avLst/>
          </a:prstGeom>
          <a:noFill xmlns:a="http://schemas.openxmlformats.org/drawingml/2006/main"/>
          <a:ln xmlns:a="http://schemas.openxmlformats.org/drawingml/2006/main" w="19050">
            <a:solidFill>
              <a:srgbClr val="E8EDF3"/>
            </a:solidFill>
          </a:ln>
        </p:spPr>
      </p:sp>
      <p:sp>
        <p:nvSpPr>
          <p:cNvPr id="11" name="">
            <a:extLst xmlns:a="http://schemas.openxmlformats.org/drawingml/2006/main">
              <a:ext uri="{FF2B5EF4-FFF2-40B4-BE49-F238E27FC236}">
                <a16:creationId xmlns:a16="http://schemas.microsoft.com/office/drawing/2014/main" id="{AA9A5E53-F41D-4B7C-A728-B7ABE3E7A9B4}"/>
              </a:ext>
            </a:extLst>
          </p:cNvPr>
          <p:cNvSpPr>
            <a:spLocks xmlns:a="http://schemas.openxmlformats.org/drawingml/2006/main" noGrp="1"/>
          </p:cNvSpPr>
          <p:nvPr/>
        </p:nvSpPr>
        <p:spPr>
          <a:xfrm xmlns:a="http://schemas.openxmlformats.org/drawingml/2006/main">
            <a:off x="876300" y="48768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250" b="1">
                <a:solidFill>
                  <a:srgbClr val="0D1B2A"/>
                </a:solidFill>
                <a:latin typeface="Arial"/>
                <a:ea typeface="Arial"/>
                <a:cs typeface="Arial"/>
              </a:defRPr>
            </a:pPr>
            <a:r>
              <a:rPr sz="2250" b="1">
                <a:solidFill>
                  <a:srgbClr val="0D1B2A"/>
                </a:solidFill>
                <a:latin typeface="Arial"/>
                <a:ea typeface="Arial"/>
                <a:cs typeface="Arial"/>
              </a:rPr>
              <a:t>Còn cần chạy full</a:t>
            </a:r>
          </a:p>
        </p:txBody>
      </p:sp>
      <p:sp>
        <p:nvSpPr>
          <p:cNvPr id="12" name="">
            <a:extLst xmlns:a="http://schemas.openxmlformats.org/drawingml/2006/main">
              <a:ext uri="{FF2B5EF4-FFF2-40B4-BE49-F238E27FC236}">
                <a16:creationId xmlns:a16="http://schemas.microsoft.com/office/drawing/2014/main" id="{372E9604-E852-4736-AE3C-57714E5652FE}"/>
              </a:ext>
            </a:extLst>
          </p:cNvPr>
          <p:cNvSpPr>
            <a:spLocks xmlns:a="http://schemas.openxmlformats.org/drawingml/2006/main" noGrp="1"/>
          </p:cNvSpPr>
          <p:nvPr/>
        </p:nvSpPr>
        <p:spPr>
          <a:xfrm xmlns:a="http://schemas.openxmlformats.org/drawingml/2006/main">
            <a:off x="4229100" y="4876800"/>
            <a:ext cx="70008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875" b="0">
                <a:solidFill>
                  <a:srgbClr val="526176"/>
                </a:solidFill>
                <a:latin typeface="Arial"/>
                <a:ea typeface="Arial"/>
                <a:cs typeface="Arial"/>
              </a:defRPr>
            </a:pPr>
            <a:r>
              <a:rPr sz="1875" b="0">
                <a:solidFill>
                  <a:srgbClr val="526176"/>
                </a:solidFill>
                <a:latin typeface="Arial"/>
                <a:ea typeface="Arial"/>
                <a:cs typeface="Arial"/>
              </a:rPr>
              <a:t>MovieLens 25M · HDFS · Spark ALS · TensorFlow MLP</a:t>
            </a:r>
          </a:p>
        </p:txBody>
      </p:sp>
    </p:spTree>
    <p:extLst>
      <p:ext uri="{BB962C8B-B14F-4D97-AF65-F5344CB8AC3E}">
        <p14:creationId xmlns:p14="http://schemas.microsoft.com/office/powerpoint/2010/main" val="1950076412"/>
      </p:ext>
    </p:extLst>
  </p:cSld>
</p:sld>
</file>

<file path=ppt/slides/slide12.xml><?xml version="1.0" encoding="utf-8"?>
<p:sld xmlns:p="http://schemas.openxmlformats.org/presentationml/2006/main">
  <p:cSld>
    <p:bg>
      <p:bgPr>
        <a:solidFill xmlns:a="http://schemas.openxmlformats.org/drawingml/2006/main">
          <a:srgbClr val="0D1B2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C6D7DE-CFCB-4FEB-98F1-C9CFA8805C2F}"/>
              </a:ext>
            </a:extLst>
          </p:cNvPr>
          <p:cNvSpPr>
            <a:spLocks xmlns:a="http://schemas.openxmlformats.org/drawingml/2006/main" noGrp="1"/>
          </p:cNvSpPr>
          <p:nvPr/>
        </p:nvSpPr>
        <p:spPr>
          <a:xfrm xmlns:a="http://schemas.openxmlformats.org/drawingml/2006/main">
            <a:off x="0" y="0"/>
            <a:ext cx="12192000" cy="123825"/>
          </a:xfrm>
          <a:prstGeom xmlns:a="http://schemas.openxmlformats.org/drawingml/2006/main" prst="rect">
            <a:avLst/>
          </a:prstGeom>
          <a:solidFill xmlns:a="http://schemas.openxmlformats.org/drawingml/2006/main">
            <a:srgbClr val="D81F2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3EB551-EC55-4D5A-A1B0-B458078332CC}"/>
              </a:ext>
            </a:extLst>
          </p:cNvPr>
          <p:cNvSpPr>
            <a:spLocks xmlns:a="http://schemas.openxmlformats.org/drawingml/2006/main" noGrp="1"/>
          </p:cNvSpPr>
          <p:nvPr/>
        </p:nvSpPr>
        <p:spPr>
          <a:xfrm xmlns:a="http://schemas.openxmlformats.org/drawingml/2006/main">
            <a:off x="742950" y="111442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700" b="1">
                <a:solidFill>
                  <a:srgbClr val="AABED1"/>
                </a:solidFill>
                <a:latin typeface="Arial"/>
                <a:ea typeface="Arial"/>
                <a:cs typeface="Arial"/>
              </a:defRPr>
            </a:pPr>
            <a:r>
              <a:rPr sz="2700" b="1">
                <a:solidFill>
                  <a:srgbClr val="AABED1"/>
                </a:solidFill>
                <a:latin typeface="Arial"/>
                <a:ea typeface="Arial"/>
                <a:cs typeface="Arial"/>
              </a:rPr>
              <a:t>HỆ THỐNG ĐÃ CÓ</a:t>
            </a:r>
          </a:p>
        </p:txBody>
      </p:sp>
      <p:sp>
        <p:nvSpPr>
          <p:cNvPr id="3" name="">
            <a:extLst xmlns:a="http://schemas.openxmlformats.org/drawingml/2006/main">
              <a:ext uri="{FF2B5EF4-FFF2-40B4-BE49-F238E27FC236}">
                <a16:creationId xmlns:a16="http://schemas.microsoft.com/office/drawing/2014/main" id="{9506974F-EE25-41DD-81DE-E554E0F7F86D}"/>
              </a:ext>
            </a:extLst>
          </p:cNvPr>
          <p:cNvSpPr>
            <a:spLocks xmlns:a="http://schemas.openxmlformats.org/drawingml/2006/main" noGrp="1"/>
          </p:cNvSpPr>
          <p:nvPr/>
        </p:nvSpPr>
        <p:spPr>
          <a:xfrm xmlns:a="http://schemas.openxmlformats.org/drawingml/2006/main">
            <a:off x="752475" y="1962150"/>
            <a:ext cx="10287000" cy="225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3525" b="1">
                <a:solidFill>
                  <a:srgbClr val="FFFFFF"/>
                </a:solidFill>
                <a:latin typeface="Arial"/>
                <a:ea typeface="Arial"/>
                <a:cs typeface="Arial"/>
              </a:defRPr>
            </a:pPr>
            <a:r>
              <a:rPr sz="3525" b="1">
                <a:solidFill>
                  <a:srgbClr val="FFFFFF"/>
                </a:solidFill>
                <a:latin typeface="Arial"/>
                <a:ea typeface="Arial"/>
                <a:cs typeface="Arial"/>
              </a:rPr>
              <a:t>Luồng xử lý dữ liệu</a:t>
            </a:r>
          </a:p>
          <a:p xmlns:a="http://schemas.openxmlformats.org/drawingml/2006/main">
            <a:pPr algn="l">
              <a:defRPr sz="3525" b="1">
                <a:solidFill>
                  <a:srgbClr val="FFFFFF"/>
                </a:solidFill>
                <a:latin typeface="Arial"/>
                <a:ea typeface="Arial"/>
                <a:cs typeface="Arial"/>
              </a:defRPr>
            </a:pPr>
            <a:r>
              <a:rPr sz="3525" b="1">
                <a:solidFill>
                  <a:srgbClr val="FFFFFF"/>
                </a:solidFill>
                <a:latin typeface="Arial"/>
                <a:ea typeface="Arial"/>
                <a:cs typeface="Arial"/>
              </a:rPr>
              <a:t>Mô hình gợi ý thử</a:t>
            </a:r>
          </a:p>
          <a:p xmlns:a="http://schemas.openxmlformats.org/drawingml/2006/main">
            <a:pPr algn="l">
              <a:defRPr sz="3525" b="1">
                <a:solidFill>
                  <a:srgbClr val="FFFFFF"/>
                </a:solidFill>
                <a:latin typeface="Arial"/>
                <a:ea typeface="Arial"/>
                <a:cs typeface="Arial"/>
              </a:defRPr>
            </a:pPr>
            <a:r>
              <a:rPr sz="3525" b="1">
                <a:solidFill>
                  <a:srgbClr val="FFFFFF"/>
                </a:solidFill>
                <a:latin typeface="Arial"/>
                <a:ea typeface="Arial"/>
                <a:cs typeface="Arial"/>
              </a:rPr>
              <a:t>Dashboard để xem kết quả</a:t>
            </a:r>
          </a:p>
        </p:txBody>
      </p:sp>
      <p:sp>
        <p:nvSpPr>
          <p:cNvPr id="4" name="">
            <a:extLst xmlns:a="http://schemas.openxmlformats.org/drawingml/2006/main">
              <a:ext uri="{FF2B5EF4-FFF2-40B4-BE49-F238E27FC236}">
                <a16:creationId xmlns:a16="http://schemas.microsoft.com/office/drawing/2014/main" id="{591BA5CB-ACC4-4BEC-ACBC-F7D299F7BE56}"/>
              </a:ext>
            </a:extLst>
          </p:cNvPr>
          <p:cNvSpPr>
            <a:spLocks xmlns:a="http://schemas.openxmlformats.org/drawingml/2006/main" noGrp="1"/>
          </p:cNvSpPr>
          <p:nvPr/>
        </p:nvSpPr>
        <p:spPr>
          <a:xfrm xmlns:a="http://schemas.openxmlformats.org/drawingml/2006/main">
            <a:off x="762000" y="4686300"/>
            <a:ext cx="10525125" cy="0"/>
          </a:xfrm>
          <a:prstGeom xmlns:a="http://schemas.openxmlformats.org/drawingml/2006/main" prst="line">
            <a:avLst/>
          </a:prstGeom>
          <a:noFill xmlns:a="http://schemas.openxmlformats.org/drawingml/2006/main"/>
          <a:ln xmlns:a="http://schemas.openxmlformats.org/drawingml/2006/main" w="47625">
            <a:solidFill>
              <a:srgbClr val="D81F26"/>
            </a:solidFill>
          </a:ln>
        </p:spPr>
      </p:sp>
      <p:sp>
        <p:nvSpPr>
          <p:cNvPr id="5" name="">
            <a:extLst xmlns:a="http://schemas.openxmlformats.org/drawingml/2006/main">
              <a:ext uri="{FF2B5EF4-FFF2-40B4-BE49-F238E27FC236}">
                <a16:creationId xmlns:a16="http://schemas.microsoft.com/office/drawing/2014/main" id="{07A5153D-3846-41DA-8249-426BFD24C838}"/>
              </a:ext>
            </a:extLst>
          </p:cNvPr>
          <p:cNvSpPr>
            <a:spLocks xmlns:a="http://schemas.openxmlformats.org/drawingml/2006/main" noGrp="1"/>
          </p:cNvSpPr>
          <p:nvPr/>
        </p:nvSpPr>
        <p:spPr>
          <a:xfrm xmlns:a="http://schemas.openxmlformats.org/drawingml/2006/main">
            <a:off x="762000" y="5010150"/>
            <a:ext cx="981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2550" b="0">
                <a:solidFill>
                  <a:srgbClr val="FFFFFF"/>
                </a:solidFill>
                <a:latin typeface="Arial"/>
                <a:ea typeface="Arial"/>
                <a:cs typeface="Arial"/>
              </a:defRPr>
            </a:pPr>
            <a:r>
              <a:rPr sz="2550" b="0">
                <a:solidFill>
                  <a:srgbClr val="FFFFFF"/>
                </a:solidFill>
                <a:latin typeface="Arial"/>
                <a:ea typeface="Arial"/>
                <a:cs typeface="Arial"/>
              </a:rPr>
              <a:t>Xin cảm ơn thầy và các bạn.</a:t>
            </a:r>
          </a:p>
        </p:txBody>
      </p:sp>
      <p:sp>
        <p:nvSpPr>
          <p:cNvPr id="6" name="">
            <a:extLst xmlns:a="http://schemas.openxmlformats.org/drawingml/2006/main">
              <a:ext uri="{FF2B5EF4-FFF2-40B4-BE49-F238E27FC236}">
                <a16:creationId xmlns:a16="http://schemas.microsoft.com/office/drawing/2014/main" id="{E6031D77-8413-48FD-86AE-252A2E083615}"/>
              </a:ext>
            </a:extLst>
          </p:cNvPr>
          <p:cNvSpPr>
            <a:spLocks xmlns:a="http://schemas.openxmlformats.org/drawingml/2006/main" noGrp="1"/>
          </p:cNvSpPr>
          <p:nvPr/>
        </p:nvSpPr>
        <p:spPr>
          <a:xfrm xmlns:a="http://schemas.openxmlformats.org/drawingml/2006/main">
            <a:off x="771525" y="6029325"/>
            <a:ext cx="1000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1500" b="0">
                <a:solidFill>
                  <a:srgbClr val="D5E0EB"/>
                </a:solidFill>
                <a:latin typeface="Arial"/>
                <a:ea typeface="Arial"/>
                <a:cs typeface="Arial"/>
              </a:defRPr>
            </a:pPr>
            <a:r>
              <a:rPr sz="1500" b="0">
                <a:solidFill>
                  <a:srgbClr val="D5E0EB"/>
                </a:solidFill>
                <a:latin typeface="Arial"/>
                <a:ea typeface="Arial"/>
                <a:cs typeface="Arial"/>
              </a:rPr>
              <a:t>Nhóm 9  ·  GVHD: TS. Hà Minh Tân</a:t>
            </a:r>
          </a:p>
        </p:txBody>
      </p:sp>
    </p:spTree>
    <p:extLst>
      <p:ext uri="{BB962C8B-B14F-4D97-AF65-F5344CB8AC3E}">
        <p14:creationId xmlns:p14="http://schemas.microsoft.com/office/powerpoint/2010/main" val="9389983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2026-09-30T03:24:53.5710000Z</dcterms:created>
  <dcterms:modified xsi:type="dcterms:W3CDTF">2026-09-30T03:24:53.5710000Z</dcterms:modified>
</coreProperties>
</file>